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60" r:id="rId5"/>
    <p:sldId id="259" r:id="rId6"/>
    <p:sldId id="261" r:id="rId7"/>
    <p:sldId id="262" r:id="rId8"/>
    <p:sldId id="274" r:id="rId9"/>
    <p:sldId id="275" r:id="rId10"/>
    <p:sldId id="276" r:id="rId11"/>
    <p:sldId id="264" r:id="rId12"/>
    <p:sldId id="265" r:id="rId13"/>
    <p:sldId id="277" r:id="rId14"/>
    <p:sldId id="278" r:id="rId15"/>
    <p:sldId id="279" r:id="rId16"/>
    <p:sldId id="267" r:id="rId17"/>
    <p:sldId id="268" r:id="rId18"/>
    <p:sldId id="269" r:id="rId19"/>
    <p:sldId id="270" r:id="rId20"/>
    <p:sldId id="271" r:id="rId21"/>
    <p:sldId id="272" r:id="rId22"/>
    <p:sldId id="27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3951"/>
    <p:restoredTop sz="97789"/>
  </p:normalViewPr>
  <p:slideViewPr>
    <p:cSldViewPr snapToGrid="0" snapToObjects="1">
      <p:cViewPr varScale="1">
        <p:scale>
          <a:sx n="217" d="100"/>
          <a:sy n="217" d="100"/>
        </p:scale>
        <p:origin x="18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2209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Today I'll show how we turned TravelTide's raw flight, hotel, session and user data into six customer segments, each with a tailored retention perk and a measurement plan. The throughline: most of our traffic doesn't convert, and the customers we do have need very different things to stay. Set an upbeat, executive tone.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roadmap: the problem and the data, how we engineered features, what we found, the six segments, the perks, and finally how we'll prove it works. Keep this to ~20 seconds.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problem in business terms. Two-thirds of sessions never book — that's the headline. We have ~5,700 customers to work with, and bundle bookers are worth more than 2x. We chose unsupervised ML deliberately: we let the data tell us how many customer types exist, then design rewards. Don't dwell on the method yet.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whole journey on one slide. Clean and join the data, build features at the customer level, pick the 19 that matter, preprocess so no single big number dominates, cluster in two stages, then design perks and a measurement plan. I'll walk the key forks next. ~45 seconds.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tables. Sessions is the backbone — every visit, booked or not. Flights and hotels only exist when someone actually books, so they attach by trip_id. Users gives demographics. Important caveat to mention: this is a 29-week snapshot, which shapes how we measure retention later.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view: the session table. The key idea is that blanks here are meaningful — no flight booked means no flight columns, that's correct, not missing. Mention the disciplined cleaning: we fixed the nights column and removed minors. End on trust: every row is a faithful record.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convert raw fields into behaviour: did they book, how much did they spend, how far ahead, solo or group, how hard did they work to decide. Two craftsmanship points worth calling out: the international classifier handles tricky airport codes properly, and we compute clean 'completed-only' metrics so cancellations don't pollute the signal.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headline number: two-thirds of visits never book. That's the engineered browse_only flag firing on 65% of sessions. But notice the shape of the third that do convert — bundles beat flight-only and hotel-only combined, so our rare conversions are concentrated in the most valuable basket. The implication is twofold: activation is the biggest growth lever, and bundling is where the value already lives, so we protect and grow 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replacement insight, and it's the surprising one. When we engineered lead time, the distribution wasn't a smooth curve — it split into two clean humps with an empty valley between. Ninety-five percent book within a week or two, cheap and domestic. But a small five percent book around two hundred days out and pay roughly five times the fare, mostly international. Practically nobody sits in between. So we're really serving two different businesses with one website. That tiny far-advance group is our premium planners — and this single engineered feature flagged them before we even clustered.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insight, and it connects back to the first. Cancellations aren't spread evenly — they're concentrated almost entirely in bundles, at about five percent, while flight-only and hotel-only barely cancel at all. That's awkward, because bundles are exactly the high-value basket we want to grow. So the takeaway is to grow bundles but defend the revenue: tie our best rewards to completed trips, pair bundle pushes with flexible-change safeguards, and forecast realised rather than gross bundle revenue.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view: we collapse all of a customer's sessions into one row with ~57 summary features. Crucial design choice — we use rates, not raw counts, so a frequent visitor and an occasional one are compared fairly. This per-customer table is what we actually cluster.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had 57 candidate features and trimmed to 19 across these five dimensions. The principles: avoid redundancy, prefer comparable rates, use completed-booking versions, and keep flight and hotel symmetric. We dropped demographics like gender and country because they're too lopsided to separate anyone. Don't read every feature — point to the groups.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strategic surprise. Our engineered airline-count feature shows three in four flyers never settle on one airline — and the more carriers they spread across, the more they're worth, all the way to nearly six thousand in lifetime spend. The point isn't that flying more costs more; it's that nobody owns these customers' loyalty. That's the churn risk and the opportunity at once — and the reason our flagship perk for the core is a TravelTide loyalty programme, not another discount.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insight, and it's a warning label. We built an engagement score from clicks times session time. The most engaged quarter of customers convert two and a half times more than the least engaged — great. But they also cancel far more, and that link is the strongest relationship in the whole dataset. So engagement is double-edged: the keenest researchers are our best converters and our biggest cancellers. The implication is to treat the two halves differently — reward the committed, give the flaky ones flexibility, and tie the richest perks to trips that actually complete.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insight, and it points straight at our most profitable customers. When we plot how far ahead people book against what they spend, the biggest spenders are almost all far-advance planners — the top of the chart books months out, while last-minute bookers sit at the bottom. Lead time turns out to be a better value signal than the fare on any single trip. These are our premium segment, worth roughly four times the light tier. We keep them with flexibility and service — and by reaching out before their long planning window opens.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modelling judgement. The silhouette score tells us cluster quality; it's healthy up to five clusters then collapses, so five is where the real structure ends. But one of those five is three-quarters of customers — too coarse to act on. So we zoom in and split just that group into two usable tiers. Four natural niches plus two business tiers gives six segments.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six. Two big mainstream tiers — engaged and occasional — are ~75% of customers between them. Then four sharp niches: premium far-advance planners (our highest value), browse-only non-converters, international hotel-only guests, and intense budget deal-hunters. The niches are statistically tight; the mainstream split we own as a business decision.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payoff: a tailored perk per segment. Notice the logic differs by segment. Affluent planners don't need discounts — they need flexibility and service. Deal-hunters live for price. The mainstream gets loyalty lock-in. Browse-only gets a capped activation offer. International hotel guests get a bundle perk to win the flight we currently lose. Reward fits behaviour.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We've delivered the two things we set out to: the segments and the perks. The natural next step is to decide how we'll know they work. We'd propose one simple, honest metric — the Repeat-Booking Rate: did a customer make another completed booking within ninety days. One definition serves twice: it profiles each segment today and reads the experiment after launch. And it adapts by segment — for browse-only customers it's just the first-booking rate. This is a proposal, not something we've run yet.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the metric exists, the step after that is to prove the perks cause retention, rather than just assuming it. We'd run one experiment per segment — six in all, because the perks pull in opposite directions — randomising customers into the perk or a holdout. The primary read is the Repeat-Booking Rate, with cancellation and cost as guardrails, and a clear decision rule: ship only if a perk lifts retention, pays for itself, and doesn't increase cancellations. Again, this is the proposed validation plan, not work we've already done.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recommendations. One: protect the engaged mainstream — it's where the absolute revenue risk is. Two: make bundling a company-wide push, it shows up everywhere. Three: run the niches as focused bets with the right lever each. Four: discipline — only roll out perks that pass the test on lift, net revenue and cancellations.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 up: the conversion gap is the opportunity, two-stage clustering gives six segments we can act on, each gets a fitting perk, and the KPI plus A/B test let us prove value before we spend. Invite questions. ~25 seconds.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62"/>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224528"/>
            <a:ext cx="12191695" cy="6400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256032" cy="685800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188720"/>
            <a:ext cx="10515600"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500" b="1" i="0">
                <a:solidFill>
                  <a:srgbClr val="E9B949"/>
                </a:solidFill>
                <a:latin typeface="Calibri"/>
              </a:rPr>
              <a:t>TRAVELTIDE  ·  CUSTOMER ANALYTICS</a:t>
            </a:r>
          </a:p>
        </p:txBody>
      </p:sp>
      <p:sp>
        <p:nvSpPr>
          <p:cNvPr id="6" name="TextBox 5"/>
          <p:cNvSpPr txBox="1"/>
          <p:nvPr/>
        </p:nvSpPr>
        <p:spPr>
          <a:xfrm>
            <a:off x="822960" y="1828800"/>
            <a:ext cx="10789920" cy="1737360"/>
          </a:xfrm>
          <a:prstGeom prst="rect">
            <a:avLst/>
          </a:prstGeom>
          <a:noFill/>
        </p:spPr>
        <p:txBody>
          <a:bodyPr wrap="square" lIns="45720" tIns="0" rIns="45720" bIns="0" anchor="t">
            <a:spAutoFit/>
          </a:bodyPr>
          <a:lstStyle/>
          <a:p>
            <a:pPr algn="l">
              <a:lnSpc>
                <a:spcPct val="102000"/>
              </a:lnSpc>
              <a:spcBef>
                <a:spcPts val="0"/>
              </a:spcBef>
              <a:spcAft>
                <a:spcPts val="400"/>
              </a:spcAft>
            </a:pPr>
            <a:r>
              <a:rPr sz="4000" b="1" i="0">
                <a:solidFill>
                  <a:srgbClr val="FFFFFF"/>
                </a:solidFill>
                <a:latin typeface="Calibri"/>
              </a:rPr>
              <a:t>Customer Segmentation to</a:t>
            </a:r>
          </a:p>
          <a:p>
            <a:pPr algn="l">
              <a:lnSpc>
                <a:spcPct val="102000"/>
              </a:lnSpc>
              <a:spcBef>
                <a:spcPts val="0"/>
              </a:spcBef>
              <a:spcAft>
                <a:spcPts val="400"/>
              </a:spcAft>
            </a:pPr>
            <a:r>
              <a:rPr sz="4000" b="1" i="0">
                <a:solidFill>
                  <a:srgbClr val="FFFFFF"/>
                </a:solidFill>
                <a:latin typeface="Calibri"/>
              </a:rPr>
              <a:t>Drive Retention</a:t>
            </a:r>
          </a:p>
        </p:txBody>
      </p:sp>
      <p:sp>
        <p:nvSpPr>
          <p:cNvPr id="7" name="TextBox 6"/>
          <p:cNvSpPr txBox="1"/>
          <p:nvPr/>
        </p:nvSpPr>
        <p:spPr>
          <a:xfrm>
            <a:off x="841248" y="4434840"/>
            <a:ext cx="10515600" cy="1280160"/>
          </a:xfrm>
          <a:prstGeom prst="rect">
            <a:avLst/>
          </a:prstGeom>
          <a:noFill/>
        </p:spPr>
        <p:txBody>
          <a:bodyPr wrap="square" lIns="45720" tIns="0" rIns="45720" bIns="0" anchor="t">
            <a:spAutoFit/>
          </a:bodyPr>
          <a:lstStyle/>
          <a:p>
            <a:pPr algn="l">
              <a:lnSpc>
                <a:spcPct val="100000"/>
              </a:lnSpc>
              <a:spcBef>
                <a:spcPts val="0"/>
              </a:spcBef>
              <a:spcAft>
                <a:spcPts val="800"/>
              </a:spcAft>
            </a:pPr>
            <a:r>
              <a:rPr sz="1600" b="0" i="0">
                <a:solidFill>
                  <a:srgbClr val="CFDBE8"/>
                </a:solidFill>
                <a:latin typeface="Calibri"/>
              </a:rPr>
              <a:t>Six behaviour-based segments · a tailored perk for each · a built-in KPI &amp; A/B test</a:t>
            </a:r>
          </a:p>
          <a:p>
            <a:pPr algn="l">
              <a:lnSpc>
                <a:spcPct val="100000"/>
              </a:lnSpc>
              <a:spcBef>
                <a:spcPts val="0"/>
              </a:spcBef>
              <a:spcAft>
                <a:spcPts val="800"/>
              </a:spcAft>
            </a:pPr>
            <a:r>
              <a:rPr sz="1350" b="0" i="1">
                <a:solidFill>
                  <a:srgbClr val="8A94A6"/>
                </a:solidFill>
                <a:latin typeface="Calibri"/>
              </a:rPr>
              <a:t>Unsupervised machine-learning analysis of flights, hotels, sessions &amp; users</a:t>
            </a:r>
          </a:p>
        </p:txBody>
      </p:sp>
      <p:sp>
        <p:nvSpPr>
          <p:cNvPr id="8" name="TextBox 7"/>
          <p:cNvSpPr txBox="1"/>
          <p:nvPr/>
        </p:nvSpPr>
        <p:spPr>
          <a:xfrm>
            <a:off x="841248" y="5989320"/>
            <a:ext cx="10058400" cy="436017"/>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0" i="0" dirty="0">
                <a:solidFill>
                  <a:srgbClr val="CFDBE8"/>
                </a:solidFill>
                <a:latin typeface="Calibri"/>
              </a:rPr>
              <a:t>Data Science  ·  Mastery Project  ·  June 2026</a:t>
            </a:r>
            <a:endParaRPr lang="en-US" sz="1250" b="0" i="0" dirty="0">
              <a:solidFill>
                <a:srgbClr val="CFDBE8"/>
              </a:solidFill>
              <a:latin typeface="Calibri"/>
            </a:endParaRPr>
          </a:p>
          <a:p>
            <a:pPr algn="l">
              <a:lnSpc>
                <a:spcPct val="100000"/>
              </a:lnSpc>
              <a:spcBef>
                <a:spcPts val="0"/>
              </a:spcBef>
              <a:spcAft>
                <a:spcPts val="400"/>
              </a:spcAft>
            </a:pPr>
            <a:r>
              <a:rPr lang="en-US" sz="1250" dirty="0">
                <a:solidFill>
                  <a:srgbClr val="CFDBE8"/>
                </a:solidFill>
                <a:latin typeface="Calibri"/>
              </a:rPr>
              <a:t>Paul Brendle</a:t>
            </a:r>
            <a:endParaRPr sz="1250" b="0" i="0" dirty="0">
              <a:solidFill>
                <a:srgbClr val="CFDBE8"/>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AGENDA</a:t>
            </a:r>
          </a:p>
        </p:txBody>
      </p:sp>
      <p:sp>
        <p:nvSpPr>
          <p:cNvPr id="5" name="TextBox 4"/>
          <p:cNvSpPr txBox="1"/>
          <p:nvPr/>
        </p:nvSpPr>
        <p:spPr>
          <a:xfrm>
            <a:off x="502920" y="609412"/>
            <a:ext cx="11155680" cy="353943"/>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dirty="0">
                <a:solidFill>
                  <a:srgbClr val="FFFFFF"/>
                </a:solidFill>
                <a:latin typeface="Calibri"/>
              </a:rPr>
              <a:t>What we'll cover in the next </a:t>
            </a:r>
            <a:r>
              <a:rPr lang="en-US" sz="2300" b="1" i="0" dirty="0">
                <a:solidFill>
                  <a:srgbClr val="FFFFFF"/>
                </a:solidFill>
                <a:latin typeface="Calibri"/>
              </a:rPr>
              <a:t>10</a:t>
            </a:r>
            <a:r>
              <a:rPr sz="2300" b="1" i="0" dirty="0">
                <a:solidFill>
                  <a:srgbClr val="FFFFFF"/>
                </a:solidFill>
                <a:latin typeface="Calibri"/>
              </a:rPr>
              <a:t> minutes</a:t>
            </a:r>
          </a:p>
        </p:txBody>
      </p:sp>
      <p:sp>
        <p:nvSpPr>
          <p:cNvPr id="6" name="Rectangle 5"/>
          <p:cNvSpPr/>
          <p:nvPr/>
        </p:nvSpPr>
        <p:spPr>
          <a:xfrm>
            <a:off x="640080" y="1600200"/>
            <a:ext cx="10881360" cy="676656"/>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00200"/>
            <a:ext cx="109728" cy="676656"/>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00200"/>
            <a:ext cx="640080" cy="676656"/>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1F3A5F"/>
                </a:solidFill>
                <a:latin typeface="Calibri"/>
              </a:rPr>
              <a:t>01</a:t>
            </a:r>
          </a:p>
        </p:txBody>
      </p:sp>
      <p:sp>
        <p:nvSpPr>
          <p:cNvPr id="9" name="TextBox 8"/>
          <p:cNvSpPr txBox="1"/>
          <p:nvPr/>
        </p:nvSpPr>
        <p:spPr>
          <a:xfrm>
            <a:off x="1737360" y="1673352"/>
            <a:ext cx="9601200" cy="548640"/>
          </a:xfrm>
          <a:prstGeom prst="rect">
            <a:avLst/>
          </a:prstGeom>
          <a:noFill/>
        </p:spPr>
        <p:txBody>
          <a:bodyPr wrap="square" lIns="45720" tIns="0" rIns="45720" bIns="0" anchor="t">
            <a:spAutoFit/>
          </a:bodyPr>
          <a:lstStyle/>
          <a:p>
            <a:pPr algn="l">
              <a:lnSpc>
                <a:spcPct val="100000"/>
              </a:lnSpc>
              <a:spcBef>
                <a:spcPts val="0"/>
              </a:spcBef>
              <a:spcAft>
                <a:spcPts val="200"/>
              </a:spcAft>
            </a:pPr>
            <a:r>
              <a:rPr sz="1600" b="1" i="0">
                <a:solidFill>
                  <a:srgbClr val="1F3A5F"/>
                </a:solidFill>
                <a:latin typeface="Calibri"/>
              </a:rPr>
              <a:t>The retention problem &amp; the four datasets</a:t>
            </a:r>
          </a:p>
          <a:p>
            <a:pPr algn="l">
              <a:lnSpc>
                <a:spcPct val="100000"/>
              </a:lnSpc>
              <a:spcBef>
                <a:spcPts val="0"/>
              </a:spcBef>
              <a:spcAft>
                <a:spcPts val="200"/>
              </a:spcAft>
            </a:pPr>
            <a:r>
              <a:rPr sz="1200" b="0" i="1">
                <a:solidFill>
                  <a:srgbClr val="6B7685"/>
                </a:solidFill>
                <a:latin typeface="Calibri"/>
              </a:rPr>
              <a:t>Why we built this and what we started from</a:t>
            </a:r>
          </a:p>
        </p:txBody>
      </p:sp>
      <p:sp>
        <p:nvSpPr>
          <p:cNvPr id="10" name="Rectangle 9"/>
          <p:cNvSpPr/>
          <p:nvPr/>
        </p:nvSpPr>
        <p:spPr>
          <a:xfrm>
            <a:off x="640080" y="2386584"/>
            <a:ext cx="10881360" cy="676656"/>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386584"/>
            <a:ext cx="109728" cy="676656"/>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386584"/>
            <a:ext cx="640080" cy="676656"/>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1F3A5F"/>
                </a:solidFill>
                <a:latin typeface="Calibri"/>
              </a:rPr>
              <a:t>02</a:t>
            </a:r>
          </a:p>
        </p:txBody>
      </p:sp>
      <p:sp>
        <p:nvSpPr>
          <p:cNvPr id="13" name="TextBox 12"/>
          <p:cNvSpPr txBox="1"/>
          <p:nvPr/>
        </p:nvSpPr>
        <p:spPr>
          <a:xfrm>
            <a:off x="1737360" y="2459736"/>
            <a:ext cx="9601200" cy="548640"/>
          </a:xfrm>
          <a:prstGeom prst="rect">
            <a:avLst/>
          </a:prstGeom>
          <a:noFill/>
        </p:spPr>
        <p:txBody>
          <a:bodyPr wrap="square" lIns="45720" tIns="0" rIns="45720" bIns="0" anchor="t">
            <a:spAutoFit/>
          </a:bodyPr>
          <a:lstStyle/>
          <a:p>
            <a:pPr algn="l">
              <a:lnSpc>
                <a:spcPct val="100000"/>
              </a:lnSpc>
              <a:spcBef>
                <a:spcPts val="0"/>
              </a:spcBef>
              <a:spcAft>
                <a:spcPts val="200"/>
              </a:spcAft>
            </a:pPr>
            <a:r>
              <a:rPr sz="1600" b="1" i="0">
                <a:solidFill>
                  <a:srgbClr val="1F3A5F"/>
                </a:solidFill>
                <a:latin typeface="Calibri"/>
              </a:rPr>
              <a:t>From raw tables to features</a:t>
            </a:r>
          </a:p>
          <a:p>
            <a:pPr algn="l">
              <a:lnSpc>
                <a:spcPct val="100000"/>
              </a:lnSpc>
              <a:spcBef>
                <a:spcPts val="0"/>
              </a:spcBef>
              <a:spcAft>
                <a:spcPts val="200"/>
              </a:spcAft>
            </a:pPr>
            <a:r>
              <a:rPr sz="1200" b="0" i="1">
                <a:solidFill>
                  <a:srgbClr val="6B7685"/>
                </a:solidFill>
                <a:latin typeface="Calibri"/>
              </a:rPr>
              <a:t>Joining, cleaning and engineering session- and user-level signals</a:t>
            </a:r>
          </a:p>
        </p:txBody>
      </p:sp>
      <p:sp>
        <p:nvSpPr>
          <p:cNvPr id="14" name="Rectangle 13"/>
          <p:cNvSpPr/>
          <p:nvPr/>
        </p:nvSpPr>
        <p:spPr>
          <a:xfrm>
            <a:off x="640080" y="3172968"/>
            <a:ext cx="10881360" cy="676656"/>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172968"/>
            <a:ext cx="109728" cy="676656"/>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172968"/>
            <a:ext cx="640080" cy="676656"/>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1F3A5F"/>
                </a:solidFill>
                <a:latin typeface="Calibri"/>
              </a:rPr>
              <a:t>03</a:t>
            </a:r>
          </a:p>
        </p:txBody>
      </p:sp>
      <p:sp>
        <p:nvSpPr>
          <p:cNvPr id="17" name="TextBox 16"/>
          <p:cNvSpPr txBox="1"/>
          <p:nvPr/>
        </p:nvSpPr>
        <p:spPr>
          <a:xfrm>
            <a:off x="1737360" y="3246120"/>
            <a:ext cx="9601200" cy="548640"/>
          </a:xfrm>
          <a:prstGeom prst="rect">
            <a:avLst/>
          </a:prstGeom>
          <a:noFill/>
        </p:spPr>
        <p:txBody>
          <a:bodyPr wrap="square" lIns="45720" tIns="0" rIns="45720" bIns="0" anchor="t">
            <a:spAutoFit/>
          </a:bodyPr>
          <a:lstStyle/>
          <a:p>
            <a:pPr algn="l">
              <a:lnSpc>
                <a:spcPct val="100000"/>
              </a:lnSpc>
              <a:spcBef>
                <a:spcPts val="0"/>
              </a:spcBef>
              <a:spcAft>
                <a:spcPts val="200"/>
              </a:spcAft>
            </a:pPr>
            <a:r>
              <a:rPr sz="1600" b="1" i="0">
                <a:solidFill>
                  <a:srgbClr val="1F3A5F"/>
                </a:solidFill>
                <a:latin typeface="Calibri"/>
              </a:rPr>
              <a:t>What the data shows</a:t>
            </a:r>
          </a:p>
          <a:p>
            <a:pPr algn="l">
              <a:lnSpc>
                <a:spcPct val="100000"/>
              </a:lnSpc>
              <a:spcBef>
                <a:spcPts val="0"/>
              </a:spcBef>
              <a:spcAft>
                <a:spcPts val="200"/>
              </a:spcAft>
            </a:pPr>
            <a:r>
              <a:rPr sz="1200" b="0" i="1">
                <a:solidFill>
                  <a:srgbClr val="6B7685"/>
                </a:solidFill>
                <a:latin typeface="Calibri"/>
              </a:rPr>
              <a:t>Key business insights from both views</a:t>
            </a:r>
          </a:p>
        </p:txBody>
      </p:sp>
      <p:sp>
        <p:nvSpPr>
          <p:cNvPr id="18" name="Rectangle 17"/>
          <p:cNvSpPr/>
          <p:nvPr/>
        </p:nvSpPr>
        <p:spPr>
          <a:xfrm>
            <a:off x="640080" y="3959352"/>
            <a:ext cx="10881360" cy="676656"/>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959352"/>
            <a:ext cx="109728" cy="676656"/>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959352"/>
            <a:ext cx="640080" cy="676656"/>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1F3A5F"/>
                </a:solidFill>
                <a:latin typeface="Calibri"/>
              </a:rPr>
              <a:t>04</a:t>
            </a:r>
          </a:p>
        </p:txBody>
      </p:sp>
      <p:sp>
        <p:nvSpPr>
          <p:cNvPr id="21" name="TextBox 20"/>
          <p:cNvSpPr txBox="1"/>
          <p:nvPr/>
        </p:nvSpPr>
        <p:spPr>
          <a:xfrm>
            <a:off x="1737360" y="4032504"/>
            <a:ext cx="9601200" cy="548640"/>
          </a:xfrm>
          <a:prstGeom prst="rect">
            <a:avLst/>
          </a:prstGeom>
          <a:noFill/>
        </p:spPr>
        <p:txBody>
          <a:bodyPr wrap="square" lIns="45720" tIns="0" rIns="45720" bIns="0" anchor="t">
            <a:spAutoFit/>
          </a:bodyPr>
          <a:lstStyle/>
          <a:p>
            <a:pPr algn="l">
              <a:lnSpc>
                <a:spcPct val="100000"/>
              </a:lnSpc>
              <a:spcBef>
                <a:spcPts val="0"/>
              </a:spcBef>
              <a:spcAft>
                <a:spcPts val="200"/>
              </a:spcAft>
            </a:pPr>
            <a:r>
              <a:rPr sz="1600" b="1" i="0">
                <a:solidFill>
                  <a:srgbClr val="1F3A5F"/>
                </a:solidFill>
                <a:latin typeface="Calibri"/>
              </a:rPr>
              <a:t>Six segments, two-stage clustering</a:t>
            </a:r>
          </a:p>
          <a:p>
            <a:pPr algn="l">
              <a:lnSpc>
                <a:spcPct val="100000"/>
              </a:lnSpc>
              <a:spcBef>
                <a:spcPts val="0"/>
              </a:spcBef>
              <a:spcAft>
                <a:spcPts val="200"/>
              </a:spcAft>
            </a:pPr>
            <a:r>
              <a:rPr sz="1200" b="0" i="1">
                <a:solidFill>
                  <a:srgbClr val="6B7685"/>
                </a:solidFill>
                <a:latin typeface="Calibri"/>
              </a:rPr>
              <a:t>How we found them and why we trust them</a:t>
            </a:r>
          </a:p>
        </p:txBody>
      </p:sp>
      <p:sp>
        <p:nvSpPr>
          <p:cNvPr id="22" name="Rectangle 21"/>
          <p:cNvSpPr/>
          <p:nvPr/>
        </p:nvSpPr>
        <p:spPr>
          <a:xfrm>
            <a:off x="640080" y="4745736"/>
            <a:ext cx="10881360" cy="676656"/>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4745736"/>
            <a:ext cx="109728" cy="676656"/>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745736"/>
            <a:ext cx="640080" cy="676656"/>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1F3A5F"/>
                </a:solidFill>
                <a:latin typeface="Calibri"/>
              </a:rPr>
              <a:t>05</a:t>
            </a:r>
          </a:p>
        </p:txBody>
      </p:sp>
      <p:sp>
        <p:nvSpPr>
          <p:cNvPr id="25" name="TextBox 24"/>
          <p:cNvSpPr txBox="1"/>
          <p:nvPr/>
        </p:nvSpPr>
        <p:spPr>
          <a:xfrm>
            <a:off x="1737360" y="4818888"/>
            <a:ext cx="9601200" cy="548640"/>
          </a:xfrm>
          <a:prstGeom prst="rect">
            <a:avLst/>
          </a:prstGeom>
          <a:noFill/>
        </p:spPr>
        <p:txBody>
          <a:bodyPr wrap="square" lIns="45720" tIns="0" rIns="45720" bIns="0" anchor="t">
            <a:spAutoFit/>
          </a:bodyPr>
          <a:lstStyle/>
          <a:p>
            <a:pPr algn="l">
              <a:lnSpc>
                <a:spcPct val="100000"/>
              </a:lnSpc>
              <a:spcBef>
                <a:spcPts val="0"/>
              </a:spcBef>
              <a:spcAft>
                <a:spcPts val="200"/>
              </a:spcAft>
            </a:pPr>
            <a:r>
              <a:rPr sz="1600" b="1" i="0">
                <a:solidFill>
                  <a:srgbClr val="1F3A5F"/>
                </a:solidFill>
                <a:latin typeface="Calibri"/>
              </a:rPr>
              <a:t>A perk for every segment</a:t>
            </a:r>
          </a:p>
          <a:p>
            <a:pPr algn="l">
              <a:lnSpc>
                <a:spcPct val="100000"/>
              </a:lnSpc>
              <a:spcBef>
                <a:spcPts val="0"/>
              </a:spcBef>
              <a:spcAft>
                <a:spcPts val="200"/>
              </a:spcAft>
            </a:pPr>
            <a:r>
              <a:rPr sz="1200" b="0" i="1">
                <a:solidFill>
                  <a:srgbClr val="6B7685"/>
                </a:solidFill>
                <a:latin typeface="Calibri"/>
              </a:rPr>
              <a:t>Matching the reward to the behaviour</a:t>
            </a:r>
          </a:p>
        </p:txBody>
      </p:sp>
      <p:sp>
        <p:nvSpPr>
          <p:cNvPr id="26" name="Rectangle 25"/>
          <p:cNvSpPr/>
          <p:nvPr/>
        </p:nvSpPr>
        <p:spPr>
          <a:xfrm>
            <a:off x="640080" y="5532120"/>
            <a:ext cx="10881360" cy="676656"/>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5532120"/>
            <a:ext cx="109728" cy="676656"/>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5532120"/>
            <a:ext cx="640080" cy="676656"/>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1F3A5F"/>
                </a:solidFill>
                <a:latin typeface="Calibri"/>
              </a:rPr>
              <a:t>06</a:t>
            </a:r>
          </a:p>
        </p:txBody>
      </p:sp>
      <p:sp>
        <p:nvSpPr>
          <p:cNvPr id="29" name="TextBox 28"/>
          <p:cNvSpPr txBox="1"/>
          <p:nvPr/>
        </p:nvSpPr>
        <p:spPr>
          <a:xfrm>
            <a:off x="1737360" y="5605272"/>
            <a:ext cx="9601200" cy="548640"/>
          </a:xfrm>
          <a:prstGeom prst="rect">
            <a:avLst/>
          </a:prstGeom>
          <a:noFill/>
        </p:spPr>
        <p:txBody>
          <a:bodyPr wrap="square" lIns="45720" tIns="0" rIns="45720" bIns="0" anchor="t">
            <a:spAutoFit/>
          </a:bodyPr>
          <a:lstStyle/>
          <a:p>
            <a:pPr algn="l">
              <a:lnSpc>
                <a:spcPct val="100000"/>
              </a:lnSpc>
              <a:spcBef>
                <a:spcPts val="0"/>
              </a:spcBef>
              <a:spcAft>
                <a:spcPts val="200"/>
              </a:spcAft>
            </a:pPr>
            <a:r>
              <a:rPr sz="1600" b="1" i="0">
                <a:solidFill>
                  <a:srgbClr val="1F3A5F"/>
                </a:solidFill>
                <a:latin typeface="Calibri"/>
              </a:rPr>
              <a:t>Measuring success</a:t>
            </a:r>
          </a:p>
          <a:p>
            <a:pPr algn="l">
              <a:lnSpc>
                <a:spcPct val="100000"/>
              </a:lnSpc>
              <a:spcBef>
                <a:spcPts val="0"/>
              </a:spcBef>
              <a:spcAft>
                <a:spcPts val="200"/>
              </a:spcAft>
            </a:pPr>
            <a:r>
              <a:rPr sz="1200" b="0" i="1">
                <a:solidFill>
                  <a:srgbClr val="6B7685"/>
                </a:solidFill>
                <a:latin typeface="Calibri"/>
              </a:rPr>
              <a:t>A retention KPI and a six-arm A/B test</a:t>
            </a:r>
          </a:p>
        </p:txBody>
      </p:sp>
      <p:sp>
        <p:nvSpPr>
          <p:cNvPr id="30" name="TextBox 29"/>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31" name="TextBox 30"/>
          <p:cNvSpPr txBox="1"/>
          <p:nvPr/>
        </p:nvSpPr>
        <p:spPr>
          <a:xfrm>
            <a:off x="11155680" y="6473952"/>
            <a:ext cx="822960" cy="274320"/>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a:solidFill>
                  <a:srgbClr val="8A94A6"/>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BUSINESS CONTEXT</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Lots of browsing, little booking — retention is the lever</a:t>
            </a:r>
          </a:p>
        </p:txBody>
      </p:sp>
      <p:sp>
        <p:nvSpPr>
          <p:cNvPr id="6" name="Rectangle 5"/>
          <p:cNvSpPr/>
          <p:nvPr/>
        </p:nvSpPr>
        <p:spPr>
          <a:xfrm>
            <a:off x="640080" y="1554480"/>
            <a:ext cx="3429000" cy="141732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27632"/>
            <a:ext cx="3429000"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400" b="1" i="0">
                <a:solidFill>
                  <a:srgbClr val="E8743B"/>
                </a:solidFill>
                <a:latin typeface="Calibri"/>
              </a:rPr>
              <a:t>65.5%</a:t>
            </a:r>
          </a:p>
        </p:txBody>
      </p:sp>
      <p:sp>
        <p:nvSpPr>
          <p:cNvPr id="8" name="TextBox 7"/>
          <p:cNvSpPr txBox="1"/>
          <p:nvPr/>
        </p:nvSpPr>
        <p:spPr>
          <a:xfrm>
            <a:off x="640080" y="2331720"/>
            <a:ext cx="3429000" cy="54864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of sessions end with no booking</a:t>
            </a:r>
          </a:p>
        </p:txBody>
      </p:sp>
      <p:sp>
        <p:nvSpPr>
          <p:cNvPr id="9" name="Rectangle 8"/>
          <p:cNvSpPr/>
          <p:nvPr/>
        </p:nvSpPr>
        <p:spPr>
          <a:xfrm>
            <a:off x="4379976" y="1554480"/>
            <a:ext cx="3429000" cy="141732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79976" y="1627632"/>
            <a:ext cx="3429000"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400" b="1" i="0">
                <a:solidFill>
                  <a:srgbClr val="3D6FB4"/>
                </a:solidFill>
                <a:latin typeface="Calibri"/>
              </a:rPr>
              <a:t>5,746</a:t>
            </a:r>
          </a:p>
        </p:txBody>
      </p:sp>
      <p:sp>
        <p:nvSpPr>
          <p:cNvPr id="11" name="TextBox 10"/>
          <p:cNvSpPr txBox="1"/>
          <p:nvPr/>
        </p:nvSpPr>
        <p:spPr>
          <a:xfrm>
            <a:off x="4379976" y="2331720"/>
            <a:ext cx="3429000" cy="54864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customers in the analysis cohort</a:t>
            </a:r>
          </a:p>
        </p:txBody>
      </p:sp>
      <p:sp>
        <p:nvSpPr>
          <p:cNvPr id="12" name="Rectangle 11"/>
          <p:cNvSpPr/>
          <p:nvPr/>
        </p:nvSpPr>
        <p:spPr>
          <a:xfrm>
            <a:off x="8119872" y="1554480"/>
            <a:ext cx="3429000" cy="141732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19872" y="1627632"/>
            <a:ext cx="3429000"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400" b="1" i="0">
                <a:solidFill>
                  <a:srgbClr val="2A9D8F"/>
                </a:solidFill>
                <a:latin typeface="Calibri"/>
              </a:rPr>
              <a:t>2.2×</a:t>
            </a:r>
          </a:p>
        </p:txBody>
      </p:sp>
      <p:sp>
        <p:nvSpPr>
          <p:cNvPr id="14" name="TextBox 13"/>
          <p:cNvSpPr txBox="1"/>
          <p:nvPr/>
        </p:nvSpPr>
        <p:spPr>
          <a:xfrm>
            <a:off x="8119872" y="2331720"/>
            <a:ext cx="3429000" cy="54864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higher spend from bundle bookers</a:t>
            </a:r>
          </a:p>
        </p:txBody>
      </p:sp>
      <p:sp>
        <p:nvSpPr>
          <p:cNvPr id="15" name="TextBox 14"/>
          <p:cNvSpPr txBox="1"/>
          <p:nvPr/>
        </p:nvSpPr>
        <p:spPr>
          <a:xfrm>
            <a:off x="640080" y="3291840"/>
            <a:ext cx="10881360" cy="2926080"/>
          </a:xfrm>
          <a:prstGeom prst="rect">
            <a:avLst/>
          </a:prstGeom>
          <a:noFill/>
        </p:spPr>
        <p:txBody>
          <a:bodyPr wrap="square" lIns="45720" tIns="0" rIns="45720">
            <a:spAutoFit/>
          </a:bodyPr>
          <a:lstStyle/>
          <a:p>
            <a:pPr>
              <a:lnSpc>
                <a:spcPct val="105000"/>
              </a:lnSpc>
              <a:spcBef>
                <a:spcPts val="0"/>
              </a:spcBef>
              <a:spcAft>
                <a:spcPts val="1100"/>
              </a:spcAft>
            </a:pPr>
            <a:r>
              <a:rPr sz="1500" b="1">
                <a:solidFill>
                  <a:srgbClr val="E8743B"/>
                </a:solidFill>
                <a:latin typeface="Calibri"/>
              </a:rPr>
              <a:t>▪  </a:t>
            </a:r>
            <a:r>
              <a:rPr sz="1500" b="0">
                <a:solidFill>
                  <a:srgbClr val="22303F"/>
                </a:solidFill>
                <a:latin typeface="Calibri"/>
              </a:rPr>
              <a:t>TravelTide is an online flight + hotel platform with a large browsing audience and a much smaller booking base.</a:t>
            </a:r>
          </a:p>
          <a:p>
            <a:pPr>
              <a:lnSpc>
                <a:spcPct val="105000"/>
              </a:lnSpc>
              <a:spcBef>
                <a:spcPts val="0"/>
              </a:spcBef>
              <a:spcAft>
                <a:spcPts val="1100"/>
              </a:spcAft>
            </a:pPr>
            <a:r>
              <a:rPr sz="1500" b="1">
                <a:solidFill>
                  <a:srgbClr val="E8743B"/>
                </a:solidFill>
                <a:latin typeface="Calibri"/>
              </a:rPr>
              <a:t>▪  </a:t>
            </a:r>
            <a:r>
              <a:rPr sz="1500" b="0">
                <a:solidFill>
                  <a:srgbClr val="22303F"/>
                </a:solidFill>
                <a:latin typeface="Calibri"/>
              </a:rPr>
              <a:t>The retention need: traffic mostly doesn't convert, comparison-shopping pulls bookers to competitors, and long gaps between trips create silent churn.</a:t>
            </a:r>
          </a:p>
          <a:p>
            <a:pPr>
              <a:lnSpc>
                <a:spcPct val="105000"/>
              </a:lnSpc>
              <a:spcBef>
                <a:spcPts val="0"/>
              </a:spcBef>
              <a:spcAft>
                <a:spcPts val="1100"/>
              </a:spcAft>
            </a:pPr>
            <a:r>
              <a:rPr sz="1500" b="1">
                <a:solidFill>
                  <a:srgbClr val="E8743B"/>
                </a:solidFill>
                <a:latin typeface="Calibri"/>
              </a:rPr>
              <a:t>▪  </a:t>
            </a:r>
            <a:r>
              <a:rPr sz="1500" b="1">
                <a:solidFill>
                  <a:srgbClr val="22303F"/>
                </a:solidFill>
                <a:latin typeface="Calibri"/>
              </a:rPr>
              <a:t>Project goal: a loyalty / retention programme that gives the right perk to the right customer to drive repeat, revenue-generating bookings.</a:t>
            </a:r>
          </a:p>
          <a:p>
            <a:pPr>
              <a:lnSpc>
                <a:spcPct val="105000"/>
              </a:lnSpc>
              <a:spcBef>
                <a:spcPts val="0"/>
              </a:spcBef>
              <a:spcAft>
                <a:spcPts val="1100"/>
              </a:spcAft>
            </a:pPr>
            <a:r>
              <a:rPr sz="1500" b="1">
                <a:solidFill>
                  <a:srgbClr val="E8743B"/>
                </a:solidFill>
                <a:latin typeface="Calibri"/>
              </a:rPr>
              <a:t>▪  </a:t>
            </a:r>
            <a:r>
              <a:rPr sz="1500" b="0">
                <a:solidFill>
                  <a:srgbClr val="22303F"/>
                </a:solidFill>
                <a:latin typeface="Calibri"/>
              </a:rPr>
              <a:t>Method: unsupervised clustering — the number and nature of segments are discovered from behaviour (k is not pre-set); perks are designed after the segments are known.</a:t>
            </a:r>
          </a:p>
        </p:txBody>
      </p:sp>
      <p:sp>
        <p:nvSpPr>
          <p:cNvPr id="16" name="TextBox 15"/>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17" name="TextBox 16"/>
          <p:cNvSpPr txBox="1"/>
          <p:nvPr/>
        </p:nvSpPr>
        <p:spPr>
          <a:xfrm>
            <a:off x="11155680" y="6473952"/>
            <a:ext cx="822960" cy="274320"/>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a:solidFill>
                  <a:srgbClr val="8A94A6"/>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THE METHOD</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An end-to-end unsupervised pipeline, with one decision per stage</a:t>
            </a:r>
          </a:p>
        </p:txBody>
      </p:sp>
      <p:sp>
        <p:nvSpPr>
          <p:cNvPr id="6" name="Rectangle 5"/>
          <p:cNvSpPr/>
          <p:nvPr/>
        </p:nvSpPr>
        <p:spPr>
          <a:xfrm>
            <a:off x="640080" y="1600200"/>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00200"/>
            <a:ext cx="457200" cy="713232"/>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00200"/>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1</a:t>
            </a:r>
          </a:p>
        </p:txBody>
      </p:sp>
      <p:sp>
        <p:nvSpPr>
          <p:cNvPr id="9" name="TextBox 8"/>
          <p:cNvSpPr txBox="1"/>
          <p:nvPr/>
        </p:nvSpPr>
        <p:spPr>
          <a:xfrm>
            <a:off x="1234440" y="1664208"/>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Clean</a:t>
            </a:r>
          </a:p>
          <a:p>
            <a:pPr algn="l">
              <a:lnSpc>
                <a:spcPct val="100000"/>
              </a:lnSpc>
              <a:spcBef>
                <a:spcPts val="0"/>
              </a:spcBef>
              <a:spcAft>
                <a:spcPts val="100"/>
              </a:spcAft>
            </a:pPr>
            <a:r>
              <a:rPr sz="1150" b="0" i="0">
                <a:solidFill>
                  <a:srgbClr val="6B7685"/>
                </a:solidFill>
                <a:latin typeface="Calibri"/>
              </a:rPr>
              <a:t>Keep structural NaNs; drop minors &amp; bad dates</a:t>
            </a:r>
          </a:p>
        </p:txBody>
      </p:sp>
      <p:sp>
        <p:nvSpPr>
          <p:cNvPr id="10" name="Rectangle 9"/>
          <p:cNvSpPr/>
          <p:nvPr/>
        </p:nvSpPr>
        <p:spPr>
          <a:xfrm>
            <a:off x="6309359" y="1600200"/>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59" y="1600200"/>
            <a:ext cx="457200" cy="713232"/>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59" y="1600200"/>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2</a:t>
            </a:r>
          </a:p>
        </p:txBody>
      </p:sp>
      <p:sp>
        <p:nvSpPr>
          <p:cNvPr id="13" name="TextBox 12"/>
          <p:cNvSpPr txBox="1"/>
          <p:nvPr/>
        </p:nvSpPr>
        <p:spPr>
          <a:xfrm>
            <a:off x="6903720" y="1664208"/>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Join</a:t>
            </a:r>
          </a:p>
          <a:p>
            <a:pPr algn="l">
              <a:lnSpc>
                <a:spcPct val="100000"/>
              </a:lnSpc>
              <a:spcBef>
                <a:spcPts val="0"/>
              </a:spcBef>
              <a:spcAft>
                <a:spcPts val="100"/>
              </a:spcAft>
            </a:pPr>
            <a:r>
              <a:rPr sz="1150" b="0" i="0">
                <a:solidFill>
                  <a:srgbClr val="6B7685"/>
                </a:solidFill>
                <a:latin typeface="Calibri"/>
              </a:rPr>
              <a:t>Session-centric table: 46,863 sessions</a:t>
            </a:r>
          </a:p>
        </p:txBody>
      </p:sp>
      <p:sp>
        <p:nvSpPr>
          <p:cNvPr id="14" name="Rectangle 13"/>
          <p:cNvSpPr/>
          <p:nvPr/>
        </p:nvSpPr>
        <p:spPr>
          <a:xfrm>
            <a:off x="640080" y="2441448"/>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2441448"/>
            <a:ext cx="457200" cy="7132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441448"/>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3</a:t>
            </a:r>
          </a:p>
        </p:txBody>
      </p:sp>
      <p:sp>
        <p:nvSpPr>
          <p:cNvPr id="17" name="TextBox 16"/>
          <p:cNvSpPr txBox="1"/>
          <p:nvPr/>
        </p:nvSpPr>
        <p:spPr>
          <a:xfrm>
            <a:off x="1234440" y="2505456"/>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Engineer</a:t>
            </a:r>
          </a:p>
          <a:p>
            <a:pPr algn="l">
              <a:lnSpc>
                <a:spcPct val="100000"/>
              </a:lnSpc>
              <a:spcBef>
                <a:spcPts val="0"/>
              </a:spcBef>
              <a:spcAft>
                <a:spcPts val="100"/>
              </a:spcAft>
            </a:pPr>
            <a:r>
              <a:rPr sz="1150" b="0" i="0">
                <a:solidFill>
                  <a:srgbClr val="6B7685"/>
                </a:solidFill>
                <a:latin typeface="Calibri"/>
              </a:rPr>
              <a:t>Session → user features (57 candidates)</a:t>
            </a:r>
          </a:p>
        </p:txBody>
      </p:sp>
      <p:sp>
        <p:nvSpPr>
          <p:cNvPr id="18" name="Rectangle 17"/>
          <p:cNvSpPr/>
          <p:nvPr/>
        </p:nvSpPr>
        <p:spPr>
          <a:xfrm>
            <a:off x="6309359" y="2441448"/>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59" y="2441448"/>
            <a:ext cx="457200" cy="7132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59" y="2441448"/>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4</a:t>
            </a:r>
          </a:p>
        </p:txBody>
      </p:sp>
      <p:sp>
        <p:nvSpPr>
          <p:cNvPr id="21" name="TextBox 20"/>
          <p:cNvSpPr txBox="1"/>
          <p:nvPr/>
        </p:nvSpPr>
        <p:spPr>
          <a:xfrm>
            <a:off x="6903720" y="2505456"/>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Select</a:t>
            </a:r>
          </a:p>
          <a:p>
            <a:pPr algn="l">
              <a:lnSpc>
                <a:spcPct val="100000"/>
              </a:lnSpc>
              <a:spcBef>
                <a:spcPts val="0"/>
              </a:spcBef>
              <a:spcAft>
                <a:spcPts val="100"/>
              </a:spcAft>
            </a:pPr>
            <a:r>
              <a:rPr sz="1150" b="0" i="0">
                <a:solidFill>
                  <a:srgbClr val="6B7685"/>
                </a:solidFill>
                <a:latin typeface="Calibri"/>
              </a:rPr>
              <a:t>19 features across 5 behaviour dimensions</a:t>
            </a:r>
          </a:p>
        </p:txBody>
      </p:sp>
      <p:sp>
        <p:nvSpPr>
          <p:cNvPr id="22" name="Rectangle 21"/>
          <p:cNvSpPr/>
          <p:nvPr/>
        </p:nvSpPr>
        <p:spPr>
          <a:xfrm>
            <a:off x="640080" y="3282696"/>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3282696"/>
            <a:ext cx="457200" cy="713232"/>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282696"/>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5</a:t>
            </a:r>
          </a:p>
        </p:txBody>
      </p:sp>
      <p:sp>
        <p:nvSpPr>
          <p:cNvPr id="25" name="TextBox 24"/>
          <p:cNvSpPr txBox="1"/>
          <p:nvPr/>
        </p:nvSpPr>
        <p:spPr>
          <a:xfrm>
            <a:off x="1234440" y="3346703"/>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Preprocess</a:t>
            </a:r>
          </a:p>
          <a:p>
            <a:pPr algn="l">
              <a:lnSpc>
                <a:spcPct val="100000"/>
              </a:lnSpc>
              <a:spcBef>
                <a:spcPts val="0"/>
              </a:spcBef>
              <a:spcAft>
                <a:spcPts val="100"/>
              </a:spcAft>
            </a:pPr>
            <a:r>
              <a:rPr sz="1150" b="0" i="0">
                <a:solidFill>
                  <a:srgbClr val="6B7685"/>
                </a:solidFill>
                <a:latin typeface="Calibri"/>
              </a:rPr>
              <a:t>Zero-impute · log1p skew · RobustScaler</a:t>
            </a:r>
          </a:p>
        </p:txBody>
      </p:sp>
      <p:sp>
        <p:nvSpPr>
          <p:cNvPr id="26" name="Rectangle 25"/>
          <p:cNvSpPr/>
          <p:nvPr/>
        </p:nvSpPr>
        <p:spPr>
          <a:xfrm>
            <a:off x="6309359" y="3282696"/>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59" y="3282696"/>
            <a:ext cx="457200" cy="713232"/>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59" y="3282696"/>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6</a:t>
            </a:r>
          </a:p>
        </p:txBody>
      </p:sp>
      <p:sp>
        <p:nvSpPr>
          <p:cNvPr id="29" name="TextBox 28"/>
          <p:cNvSpPr txBox="1"/>
          <p:nvPr/>
        </p:nvSpPr>
        <p:spPr>
          <a:xfrm>
            <a:off x="6903720" y="3346703"/>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Cluster</a:t>
            </a:r>
          </a:p>
          <a:p>
            <a:pPr algn="l">
              <a:lnSpc>
                <a:spcPct val="100000"/>
              </a:lnSpc>
              <a:spcBef>
                <a:spcPts val="0"/>
              </a:spcBef>
              <a:spcAft>
                <a:spcPts val="100"/>
              </a:spcAft>
            </a:pPr>
            <a:r>
              <a:rPr sz="1150" b="0" i="0">
                <a:solidFill>
                  <a:srgbClr val="6B7685"/>
                </a:solidFill>
                <a:latin typeface="Calibri"/>
              </a:rPr>
              <a:t>Two-stage K-Means → 6 segments</a:t>
            </a:r>
          </a:p>
        </p:txBody>
      </p:sp>
      <p:sp>
        <p:nvSpPr>
          <p:cNvPr id="30" name="Rectangle 29"/>
          <p:cNvSpPr/>
          <p:nvPr/>
        </p:nvSpPr>
        <p:spPr>
          <a:xfrm>
            <a:off x="640080" y="4123944"/>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0080" y="4123944"/>
            <a:ext cx="457200" cy="713232"/>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4123944"/>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7</a:t>
            </a:r>
          </a:p>
        </p:txBody>
      </p:sp>
      <p:sp>
        <p:nvSpPr>
          <p:cNvPr id="33" name="TextBox 32"/>
          <p:cNvSpPr txBox="1"/>
          <p:nvPr/>
        </p:nvSpPr>
        <p:spPr>
          <a:xfrm>
            <a:off x="1234440" y="4187952"/>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Design perks</a:t>
            </a:r>
          </a:p>
          <a:p>
            <a:pPr algn="l">
              <a:lnSpc>
                <a:spcPct val="100000"/>
              </a:lnSpc>
              <a:spcBef>
                <a:spcPts val="0"/>
              </a:spcBef>
              <a:spcAft>
                <a:spcPts val="100"/>
              </a:spcAft>
            </a:pPr>
            <a:r>
              <a:rPr sz="1150" b="0" i="0">
                <a:solidFill>
                  <a:srgbClr val="6B7685"/>
                </a:solidFill>
                <a:latin typeface="Calibri"/>
              </a:rPr>
              <a:t>One tailored reward per segment</a:t>
            </a:r>
          </a:p>
        </p:txBody>
      </p:sp>
      <p:sp>
        <p:nvSpPr>
          <p:cNvPr id="34" name="Rectangle 33"/>
          <p:cNvSpPr/>
          <p:nvPr/>
        </p:nvSpPr>
        <p:spPr>
          <a:xfrm>
            <a:off x="6309359" y="4123944"/>
            <a:ext cx="534924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309359" y="4123944"/>
            <a:ext cx="457200" cy="713232"/>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9359" y="4123944"/>
            <a:ext cx="457200" cy="71323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800" b="1" i="0">
                <a:solidFill>
                  <a:srgbClr val="FFFFFF"/>
                </a:solidFill>
                <a:latin typeface="Calibri"/>
              </a:rPr>
              <a:t>8</a:t>
            </a:r>
          </a:p>
        </p:txBody>
      </p:sp>
      <p:sp>
        <p:nvSpPr>
          <p:cNvPr id="37" name="TextBox 36"/>
          <p:cNvSpPr txBox="1"/>
          <p:nvPr/>
        </p:nvSpPr>
        <p:spPr>
          <a:xfrm>
            <a:off x="6903720" y="4187952"/>
            <a:ext cx="4709159" cy="640080"/>
          </a:xfrm>
          <a:prstGeom prst="rect">
            <a:avLst/>
          </a:prstGeom>
          <a:noFill/>
        </p:spPr>
        <p:txBody>
          <a:bodyPr wrap="square" lIns="45720" tIns="0" rIns="45720" bIns="0" anchor="t">
            <a:spAutoFit/>
          </a:bodyPr>
          <a:lstStyle/>
          <a:p>
            <a:pPr algn="l">
              <a:lnSpc>
                <a:spcPct val="100000"/>
              </a:lnSpc>
              <a:spcBef>
                <a:spcPts val="0"/>
              </a:spcBef>
              <a:spcAft>
                <a:spcPts val="100"/>
              </a:spcAft>
            </a:pPr>
            <a:r>
              <a:rPr sz="1500" b="1" i="0">
                <a:solidFill>
                  <a:srgbClr val="1F3A5F"/>
                </a:solidFill>
                <a:latin typeface="Calibri"/>
              </a:rPr>
              <a:t>Measure</a:t>
            </a:r>
          </a:p>
          <a:p>
            <a:pPr algn="l">
              <a:lnSpc>
                <a:spcPct val="100000"/>
              </a:lnSpc>
              <a:spcBef>
                <a:spcPts val="0"/>
              </a:spcBef>
              <a:spcAft>
                <a:spcPts val="100"/>
              </a:spcAft>
            </a:pPr>
            <a:r>
              <a:rPr sz="1150" b="0" i="0">
                <a:solidFill>
                  <a:srgbClr val="6B7685"/>
                </a:solidFill>
                <a:latin typeface="Calibri"/>
              </a:rPr>
              <a:t>RBR-90 KPI + six-arm A/B test</a:t>
            </a:r>
          </a:p>
        </p:txBody>
      </p:sp>
      <p:sp>
        <p:nvSpPr>
          <p:cNvPr id="38" name="Rectangle 37"/>
          <p:cNvSpPr/>
          <p:nvPr/>
        </p:nvSpPr>
        <p:spPr>
          <a:xfrm>
            <a:off x="640080" y="5989320"/>
            <a:ext cx="10881360"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 y="6089904"/>
            <a:ext cx="10881360" cy="36576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0" i="1">
                <a:solidFill>
                  <a:srgbClr val="6B7685"/>
                </a:solidFill>
                <a:latin typeface="Calibri"/>
              </a:rPr>
              <a:t>Every stage is one deliberate, documented choice — the model is only as good as these decisions.</a:t>
            </a:r>
          </a:p>
        </p:txBody>
      </p:sp>
      <p:sp>
        <p:nvSpPr>
          <p:cNvPr id="40" name="TextBox 39"/>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41" name="TextBox 40"/>
          <p:cNvSpPr txBox="1"/>
          <p:nvPr/>
        </p:nvSpPr>
        <p:spPr>
          <a:xfrm>
            <a:off x="11155680" y="6473952"/>
            <a:ext cx="822960" cy="274320"/>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a:solidFill>
                  <a:srgbClr val="8A94A6"/>
                </a:solidFill>
                <a:latin typeface="Calibri"/>
              </a:rP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THE RAW MATERIAL</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Four platform tables, joined around the customer</a:t>
            </a:r>
          </a:p>
        </p:txBody>
      </p:sp>
      <p:sp>
        <p:nvSpPr>
          <p:cNvPr id="6" name="Rectangle 5"/>
          <p:cNvSpPr/>
          <p:nvPr/>
        </p:nvSpPr>
        <p:spPr>
          <a:xfrm>
            <a:off x="640080" y="1554480"/>
            <a:ext cx="2679192" cy="36576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54480"/>
            <a:ext cx="2679192" cy="502920"/>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54480"/>
            <a:ext cx="2679192" cy="50292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600" b="1" i="0">
                <a:solidFill>
                  <a:srgbClr val="FFFFFF"/>
                </a:solidFill>
                <a:latin typeface="Calibri"/>
              </a:rPr>
              <a:t>USERS</a:t>
            </a:r>
          </a:p>
        </p:txBody>
      </p:sp>
      <p:sp>
        <p:nvSpPr>
          <p:cNvPr id="9" name="TextBox 8"/>
          <p:cNvSpPr txBox="1"/>
          <p:nvPr/>
        </p:nvSpPr>
        <p:spPr>
          <a:xfrm>
            <a:off x="749808" y="2139696"/>
            <a:ext cx="2459736"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150" b="1" i="1">
                <a:solidFill>
                  <a:srgbClr val="6B7685"/>
                </a:solidFill>
                <a:latin typeface="Calibri"/>
              </a:rPr>
              <a:t>One row per customer</a:t>
            </a:r>
          </a:p>
        </p:txBody>
      </p:sp>
      <p:sp>
        <p:nvSpPr>
          <p:cNvPr id="10" name="TextBox 9"/>
          <p:cNvSpPr txBox="1"/>
          <p:nvPr/>
        </p:nvSpPr>
        <p:spPr>
          <a:xfrm>
            <a:off x="749808" y="2697480"/>
            <a:ext cx="2496312" cy="2377440"/>
          </a:xfrm>
          <a:prstGeom prst="rect">
            <a:avLst/>
          </a:prstGeom>
          <a:noFill/>
        </p:spPr>
        <p:txBody>
          <a:bodyPr wrap="square" lIns="45720" tIns="0" rIns="45720">
            <a:spAutoFit/>
          </a:bodyPr>
          <a:lstStyle/>
          <a:p>
            <a:pPr>
              <a:lnSpc>
                <a:spcPct val="105000"/>
              </a:lnSpc>
              <a:spcBef>
                <a:spcPts val="0"/>
              </a:spcBef>
              <a:spcAft>
                <a:spcPts val="700"/>
              </a:spcAft>
            </a:pPr>
            <a:r>
              <a:rPr sz="1150" b="1">
                <a:solidFill>
                  <a:srgbClr val="3D6FB4"/>
                </a:solidFill>
                <a:latin typeface="Calibri"/>
              </a:rPr>
              <a:t>▪  </a:t>
            </a:r>
            <a:r>
              <a:rPr sz="1150" b="0">
                <a:solidFill>
                  <a:srgbClr val="22303F"/>
                </a:solidFill>
                <a:latin typeface="Calibri"/>
              </a:rPr>
              <a:t>Birthdate, gender, marital / children</a:t>
            </a:r>
          </a:p>
          <a:p>
            <a:pPr>
              <a:lnSpc>
                <a:spcPct val="105000"/>
              </a:lnSpc>
              <a:spcBef>
                <a:spcPts val="0"/>
              </a:spcBef>
              <a:spcAft>
                <a:spcPts val="700"/>
              </a:spcAft>
            </a:pPr>
            <a:r>
              <a:rPr sz="1150" b="1">
                <a:solidFill>
                  <a:srgbClr val="3D6FB4"/>
                </a:solidFill>
                <a:latin typeface="Calibri"/>
              </a:rPr>
              <a:t>▪  </a:t>
            </a:r>
            <a:r>
              <a:rPr sz="1150" b="0">
                <a:solidFill>
                  <a:srgbClr val="22303F"/>
                </a:solidFill>
                <a:latin typeface="Calibri"/>
              </a:rPr>
              <a:t>Home country, city, airport</a:t>
            </a:r>
          </a:p>
          <a:p>
            <a:pPr>
              <a:lnSpc>
                <a:spcPct val="105000"/>
              </a:lnSpc>
              <a:spcBef>
                <a:spcPts val="0"/>
              </a:spcBef>
              <a:spcAft>
                <a:spcPts val="700"/>
              </a:spcAft>
            </a:pPr>
            <a:r>
              <a:rPr sz="1150" b="1">
                <a:solidFill>
                  <a:srgbClr val="3D6FB4"/>
                </a:solidFill>
                <a:latin typeface="Calibri"/>
              </a:rPr>
              <a:t>▪  </a:t>
            </a:r>
            <a:r>
              <a:rPr sz="1150" b="0">
                <a:solidFill>
                  <a:srgbClr val="22303F"/>
                </a:solidFill>
                <a:latin typeface="Calibri"/>
              </a:rPr>
              <a:t>Sign-up date (→ tenure)</a:t>
            </a:r>
          </a:p>
        </p:txBody>
      </p:sp>
      <p:sp>
        <p:nvSpPr>
          <p:cNvPr id="11" name="Rectangle 10"/>
          <p:cNvSpPr/>
          <p:nvPr/>
        </p:nvSpPr>
        <p:spPr>
          <a:xfrm>
            <a:off x="3429000" y="1554480"/>
            <a:ext cx="2679192" cy="36576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1554480"/>
            <a:ext cx="2679192" cy="50292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1554480"/>
            <a:ext cx="2679192" cy="50292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600" b="1" i="0">
                <a:solidFill>
                  <a:srgbClr val="FFFFFF"/>
                </a:solidFill>
                <a:latin typeface="Calibri"/>
              </a:rPr>
              <a:t>SESSIONS</a:t>
            </a:r>
          </a:p>
        </p:txBody>
      </p:sp>
      <p:sp>
        <p:nvSpPr>
          <p:cNvPr id="14" name="TextBox 13"/>
          <p:cNvSpPr txBox="1"/>
          <p:nvPr/>
        </p:nvSpPr>
        <p:spPr>
          <a:xfrm>
            <a:off x="3538728" y="2139696"/>
            <a:ext cx="2459736"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150" b="1" i="1">
                <a:solidFill>
                  <a:srgbClr val="6B7685"/>
                </a:solidFill>
                <a:latin typeface="Calibri"/>
              </a:rPr>
              <a:t>The spine — one row per visit</a:t>
            </a:r>
          </a:p>
        </p:txBody>
      </p:sp>
      <p:sp>
        <p:nvSpPr>
          <p:cNvPr id="15" name="TextBox 14"/>
          <p:cNvSpPr txBox="1"/>
          <p:nvPr/>
        </p:nvSpPr>
        <p:spPr>
          <a:xfrm>
            <a:off x="3538728" y="2697480"/>
            <a:ext cx="2496312" cy="2377440"/>
          </a:xfrm>
          <a:prstGeom prst="rect">
            <a:avLst/>
          </a:prstGeom>
          <a:noFill/>
        </p:spPr>
        <p:txBody>
          <a:bodyPr wrap="square" lIns="45720" tIns="0" rIns="45720">
            <a:spAutoFit/>
          </a:bodyPr>
          <a:lstStyle/>
          <a:p>
            <a:pPr>
              <a:lnSpc>
                <a:spcPct val="105000"/>
              </a:lnSpc>
              <a:spcBef>
                <a:spcPts val="0"/>
              </a:spcBef>
              <a:spcAft>
                <a:spcPts val="700"/>
              </a:spcAft>
            </a:pPr>
            <a:r>
              <a:rPr sz="1150" b="1">
                <a:solidFill>
                  <a:srgbClr val="E8743B"/>
                </a:solidFill>
                <a:latin typeface="Calibri"/>
              </a:rPr>
              <a:t>▪  </a:t>
            </a:r>
            <a:r>
              <a:rPr sz="1150" b="0">
                <a:solidFill>
                  <a:srgbClr val="22303F"/>
                </a:solidFill>
                <a:latin typeface="Calibri"/>
              </a:rPr>
              <a:t>Start / end, page clicks</a:t>
            </a:r>
          </a:p>
          <a:p>
            <a:pPr>
              <a:lnSpc>
                <a:spcPct val="105000"/>
              </a:lnSpc>
              <a:spcBef>
                <a:spcPts val="0"/>
              </a:spcBef>
              <a:spcAft>
                <a:spcPts val="700"/>
              </a:spcAft>
            </a:pPr>
            <a:r>
              <a:rPr sz="1150" b="1">
                <a:solidFill>
                  <a:srgbClr val="E8743B"/>
                </a:solidFill>
                <a:latin typeface="Calibri"/>
              </a:rPr>
              <a:t>▪  </a:t>
            </a:r>
            <a:r>
              <a:rPr sz="1150" b="0">
                <a:solidFill>
                  <a:srgbClr val="22303F"/>
                </a:solidFill>
                <a:latin typeface="Calibri"/>
              </a:rPr>
              <a:t>Flight &amp; hotel booked flags</a:t>
            </a:r>
          </a:p>
          <a:p>
            <a:pPr>
              <a:lnSpc>
                <a:spcPct val="105000"/>
              </a:lnSpc>
              <a:spcBef>
                <a:spcPts val="0"/>
              </a:spcBef>
              <a:spcAft>
                <a:spcPts val="700"/>
              </a:spcAft>
            </a:pPr>
            <a:r>
              <a:rPr sz="1150" b="1">
                <a:solidFill>
                  <a:srgbClr val="E8743B"/>
                </a:solidFill>
                <a:latin typeface="Calibri"/>
              </a:rPr>
              <a:t>▪  </a:t>
            </a:r>
            <a:r>
              <a:rPr sz="1150" b="0">
                <a:solidFill>
                  <a:srgbClr val="22303F"/>
                </a:solidFill>
                <a:latin typeface="Calibri"/>
              </a:rPr>
              <a:t>Discounts, cancellation, trip_id</a:t>
            </a:r>
          </a:p>
        </p:txBody>
      </p:sp>
      <p:sp>
        <p:nvSpPr>
          <p:cNvPr id="16" name="Rectangle 15"/>
          <p:cNvSpPr/>
          <p:nvPr/>
        </p:nvSpPr>
        <p:spPr>
          <a:xfrm>
            <a:off x="6217920" y="1554480"/>
            <a:ext cx="2679192" cy="36576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1554480"/>
            <a:ext cx="2679192" cy="5029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0" y="1554480"/>
            <a:ext cx="2679192" cy="50292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600" b="1" i="0">
                <a:solidFill>
                  <a:srgbClr val="FFFFFF"/>
                </a:solidFill>
                <a:latin typeface="Calibri"/>
              </a:rPr>
              <a:t>FLIGHTS</a:t>
            </a:r>
          </a:p>
        </p:txBody>
      </p:sp>
      <p:sp>
        <p:nvSpPr>
          <p:cNvPr id="19" name="TextBox 18"/>
          <p:cNvSpPr txBox="1"/>
          <p:nvPr/>
        </p:nvSpPr>
        <p:spPr>
          <a:xfrm>
            <a:off x="6327648" y="2139696"/>
            <a:ext cx="2459736"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150" b="1" i="1">
                <a:solidFill>
                  <a:srgbClr val="6B7685"/>
                </a:solidFill>
                <a:latin typeface="Calibri"/>
              </a:rPr>
              <a:t>One row per booked flight</a:t>
            </a:r>
          </a:p>
        </p:txBody>
      </p:sp>
      <p:sp>
        <p:nvSpPr>
          <p:cNvPr id="20" name="TextBox 19"/>
          <p:cNvSpPr txBox="1"/>
          <p:nvPr/>
        </p:nvSpPr>
        <p:spPr>
          <a:xfrm>
            <a:off x="6327648" y="2697480"/>
            <a:ext cx="2496312" cy="2377440"/>
          </a:xfrm>
          <a:prstGeom prst="rect">
            <a:avLst/>
          </a:prstGeom>
          <a:noFill/>
        </p:spPr>
        <p:txBody>
          <a:bodyPr wrap="square" lIns="45720" tIns="0" rIns="45720">
            <a:spAutoFit/>
          </a:bodyPr>
          <a:lstStyle/>
          <a:p>
            <a:pPr>
              <a:lnSpc>
                <a:spcPct val="105000"/>
              </a:lnSpc>
              <a:spcBef>
                <a:spcPts val="0"/>
              </a:spcBef>
              <a:spcAft>
                <a:spcPts val="700"/>
              </a:spcAft>
            </a:pPr>
            <a:r>
              <a:rPr sz="1150" b="1">
                <a:solidFill>
                  <a:srgbClr val="2A9D8F"/>
                </a:solidFill>
                <a:latin typeface="Calibri"/>
              </a:rPr>
              <a:t>▪  </a:t>
            </a:r>
            <a:r>
              <a:rPr sz="1150" b="0">
                <a:solidFill>
                  <a:srgbClr val="22303F"/>
                </a:solidFill>
                <a:latin typeface="Calibri"/>
              </a:rPr>
              <a:t>Seats, checked bags, base fare</a:t>
            </a:r>
          </a:p>
          <a:p>
            <a:pPr>
              <a:lnSpc>
                <a:spcPct val="105000"/>
              </a:lnSpc>
              <a:spcBef>
                <a:spcPts val="0"/>
              </a:spcBef>
              <a:spcAft>
                <a:spcPts val="700"/>
              </a:spcAft>
            </a:pPr>
            <a:r>
              <a:rPr sz="1150" b="1">
                <a:solidFill>
                  <a:srgbClr val="2A9D8F"/>
                </a:solidFill>
                <a:latin typeface="Calibri"/>
              </a:rPr>
              <a:t>▪  </a:t>
            </a:r>
            <a:r>
              <a:rPr sz="1150" b="0">
                <a:solidFill>
                  <a:srgbClr val="22303F"/>
                </a:solidFill>
                <a:latin typeface="Calibri"/>
              </a:rPr>
              <a:t>Departure / return, destination</a:t>
            </a:r>
          </a:p>
          <a:p>
            <a:pPr>
              <a:lnSpc>
                <a:spcPct val="105000"/>
              </a:lnSpc>
              <a:spcBef>
                <a:spcPts val="0"/>
              </a:spcBef>
              <a:spcAft>
                <a:spcPts val="700"/>
              </a:spcAft>
            </a:pPr>
            <a:r>
              <a:rPr sz="1150" b="1">
                <a:solidFill>
                  <a:srgbClr val="2A9D8F"/>
                </a:solidFill>
                <a:latin typeface="Calibri"/>
              </a:rPr>
              <a:t>▪  </a:t>
            </a:r>
            <a:r>
              <a:rPr sz="1150" b="0">
                <a:solidFill>
                  <a:srgbClr val="22303F"/>
                </a:solidFill>
                <a:latin typeface="Calibri"/>
              </a:rPr>
              <a:t>Airline, airport coordinates</a:t>
            </a:r>
          </a:p>
        </p:txBody>
      </p:sp>
      <p:sp>
        <p:nvSpPr>
          <p:cNvPr id="21" name="Rectangle 20"/>
          <p:cNvSpPr/>
          <p:nvPr/>
        </p:nvSpPr>
        <p:spPr>
          <a:xfrm>
            <a:off x="9006840" y="1554480"/>
            <a:ext cx="2679192" cy="36576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06840" y="1554480"/>
            <a:ext cx="2679192" cy="502920"/>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06840" y="1554480"/>
            <a:ext cx="2679192" cy="50292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600" b="1" i="0">
                <a:solidFill>
                  <a:srgbClr val="FFFFFF"/>
                </a:solidFill>
                <a:latin typeface="Calibri"/>
              </a:rPr>
              <a:t>HOTELS</a:t>
            </a:r>
          </a:p>
        </p:txBody>
      </p:sp>
      <p:sp>
        <p:nvSpPr>
          <p:cNvPr id="24" name="TextBox 23"/>
          <p:cNvSpPr txBox="1"/>
          <p:nvPr/>
        </p:nvSpPr>
        <p:spPr>
          <a:xfrm>
            <a:off x="9116568" y="2139696"/>
            <a:ext cx="2459736"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150" b="1" i="1">
                <a:solidFill>
                  <a:srgbClr val="6B7685"/>
                </a:solidFill>
                <a:latin typeface="Calibri"/>
              </a:rPr>
              <a:t>One row per booked hotel</a:t>
            </a:r>
          </a:p>
        </p:txBody>
      </p:sp>
      <p:sp>
        <p:nvSpPr>
          <p:cNvPr id="25" name="TextBox 24"/>
          <p:cNvSpPr txBox="1"/>
          <p:nvPr/>
        </p:nvSpPr>
        <p:spPr>
          <a:xfrm>
            <a:off x="9116568" y="2697480"/>
            <a:ext cx="2496312" cy="2377440"/>
          </a:xfrm>
          <a:prstGeom prst="rect">
            <a:avLst/>
          </a:prstGeom>
          <a:noFill/>
        </p:spPr>
        <p:txBody>
          <a:bodyPr wrap="square" lIns="45720" tIns="0" rIns="45720">
            <a:spAutoFit/>
          </a:bodyPr>
          <a:lstStyle/>
          <a:p>
            <a:pPr>
              <a:lnSpc>
                <a:spcPct val="105000"/>
              </a:lnSpc>
              <a:spcBef>
                <a:spcPts val="0"/>
              </a:spcBef>
              <a:spcAft>
                <a:spcPts val="700"/>
              </a:spcAft>
            </a:pPr>
            <a:r>
              <a:rPr sz="1150" b="1">
                <a:solidFill>
                  <a:srgbClr val="E9B949"/>
                </a:solidFill>
                <a:latin typeface="Calibri"/>
              </a:rPr>
              <a:t>▪  </a:t>
            </a:r>
            <a:r>
              <a:rPr sz="1150" b="0">
                <a:solidFill>
                  <a:srgbClr val="22303F"/>
                </a:solidFill>
                <a:latin typeface="Calibri"/>
              </a:rPr>
              <a:t>Rooms, nights, price / room</a:t>
            </a:r>
          </a:p>
          <a:p>
            <a:pPr>
              <a:lnSpc>
                <a:spcPct val="105000"/>
              </a:lnSpc>
              <a:spcBef>
                <a:spcPts val="0"/>
              </a:spcBef>
              <a:spcAft>
                <a:spcPts val="700"/>
              </a:spcAft>
            </a:pPr>
            <a:r>
              <a:rPr sz="1150" b="1">
                <a:solidFill>
                  <a:srgbClr val="E9B949"/>
                </a:solidFill>
                <a:latin typeface="Calibri"/>
              </a:rPr>
              <a:t>▪  </a:t>
            </a:r>
            <a:r>
              <a:rPr sz="1150" b="0">
                <a:solidFill>
                  <a:srgbClr val="22303F"/>
                </a:solidFill>
                <a:latin typeface="Calibri"/>
              </a:rPr>
              <a:t>Check-in / check-out times</a:t>
            </a:r>
          </a:p>
          <a:p>
            <a:pPr>
              <a:lnSpc>
                <a:spcPct val="105000"/>
              </a:lnSpc>
              <a:spcBef>
                <a:spcPts val="0"/>
              </a:spcBef>
              <a:spcAft>
                <a:spcPts val="700"/>
              </a:spcAft>
            </a:pPr>
            <a:r>
              <a:rPr sz="1150" b="1">
                <a:solidFill>
                  <a:srgbClr val="E9B949"/>
                </a:solidFill>
                <a:latin typeface="Calibri"/>
              </a:rPr>
              <a:t>▪  </a:t>
            </a:r>
            <a:r>
              <a:rPr sz="1150" b="0">
                <a:solidFill>
                  <a:srgbClr val="22303F"/>
                </a:solidFill>
                <a:latin typeface="Calibri"/>
              </a:rPr>
              <a:t>Hotel name &amp; city</a:t>
            </a:r>
          </a:p>
        </p:txBody>
      </p:sp>
      <p:sp>
        <p:nvSpPr>
          <p:cNvPr id="26" name="TextBox 25"/>
          <p:cNvSpPr txBox="1"/>
          <p:nvPr/>
        </p:nvSpPr>
        <p:spPr>
          <a:xfrm>
            <a:off x="640080" y="5440680"/>
            <a:ext cx="10881360" cy="640080"/>
          </a:xfrm>
          <a:prstGeom prst="rect">
            <a:avLst/>
          </a:prstGeom>
          <a:noFill/>
        </p:spPr>
        <p:txBody>
          <a:bodyPr wrap="square" lIns="45720" tIns="0" rIns="45720" bIns="0" anchor="t">
            <a:spAutoFit/>
          </a:bodyPr>
          <a:lstStyle/>
          <a:p>
            <a:pPr algn="l">
              <a:lnSpc>
                <a:spcPct val="100000"/>
              </a:lnSpc>
              <a:spcBef>
                <a:spcPts val="0"/>
              </a:spcBef>
              <a:spcAft>
                <a:spcPts val="400"/>
              </a:spcAft>
            </a:pPr>
            <a:r>
              <a:rPr sz="1300" b="1" i="0">
                <a:solidFill>
                  <a:srgbClr val="22303F"/>
                </a:solidFill>
                <a:latin typeface="Calibri"/>
              </a:rPr>
              <a:t>Snapshot window: </a:t>
            </a:r>
            <a:r>
              <a:rPr sz="1300" b="0" i="0">
                <a:solidFill>
                  <a:srgbClr val="22303F"/>
                </a:solidFill>
                <a:latin typeface="Calibri"/>
              </a:rPr>
              <a:t>2023-01-04 → 2023-07-29 (~29 weeks). </a:t>
            </a:r>
            <a:r>
              <a:rPr sz="1300" b="0" i="1">
                <a:solidFill>
                  <a:srgbClr val="6B7685"/>
                </a:solidFill>
                <a:latin typeface="Calibri"/>
              </a:rPr>
              <a:t>Joined sessions → users (inner) + flights &amp; hotels (left) on trip_id.</a:t>
            </a:r>
          </a:p>
        </p:txBody>
      </p:sp>
      <p:sp>
        <p:nvSpPr>
          <p:cNvPr id="27" name="TextBox 26"/>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28" name="TextBox 27"/>
          <p:cNvSpPr txBox="1"/>
          <p:nvPr/>
        </p:nvSpPr>
        <p:spPr>
          <a:xfrm>
            <a:off x="11155680" y="6473952"/>
            <a:ext cx="822960" cy="274320"/>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a:solidFill>
                  <a:srgbClr val="8A94A6"/>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19236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dirty="0">
                <a:solidFill>
                  <a:srgbClr val="E9B949"/>
                </a:solidFill>
                <a:latin typeface="Calibri"/>
              </a:rPr>
              <a:t>VIEW 1 · SESSION</a:t>
            </a:r>
            <a:r>
              <a:rPr lang="en-US" sz="1250" b="1" dirty="0">
                <a:solidFill>
                  <a:srgbClr val="E9B949"/>
                </a:solidFill>
                <a:latin typeface="Calibri"/>
              </a:rPr>
              <a:t>-LEVEL DATA</a:t>
            </a:r>
            <a:endParaRPr sz="1250" b="1" i="0" dirty="0">
              <a:solidFill>
                <a:srgbClr val="E9B949"/>
              </a:solidFill>
              <a:latin typeface="Calibri"/>
            </a:endParaRP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Every visit becomes one row — the behavioural raw signal</a:t>
            </a:r>
          </a:p>
        </p:txBody>
      </p:sp>
      <p:sp>
        <p:nvSpPr>
          <p:cNvPr id="6" name="Rectangle 5"/>
          <p:cNvSpPr/>
          <p:nvPr/>
        </p:nvSpPr>
        <p:spPr>
          <a:xfrm>
            <a:off x="640080" y="1554480"/>
            <a:ext cx="3383280" cy="12344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27632"/>
            <a:ext cx="3383280"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000" b="1" i="0">
                <a:solidFill>
                  <a:srgbClr val="3D6FB4"/>
                </a:solidFill>
                <a:latin typeface="Calibri"/>
              </a:rPr>
              <a:t>46,863</a:t>
            </a:r>
          </a:p>
        </p:txBody>
      </p:sp>
      <p:sp>
        <p:nvSpPr>
          <p:cNvPr id="8" name="TextBox 7"/>
          <p:cNvSpPr txBox="1"/>
          <p:nvPr/>
        </p:nvSpPr>
        <p:spPr>
          <a:xfrm>
            <a:off x="640080" y="2286000"/>
            <a:ext cx="3383280" cy="36576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cleaned sessions</a:t>
            </a:r>
          </a:p>
        </p:txBody>
      </p:sp>
      <p:sp>
        <p:nvSpPr>
          <p:cNvPr id="9" name="Rectangle 8"/>
          <p:cNvSpPr/>
          <p:nvPr/>
        </p:nvSpPr>
        <p:spPr>
          <a:xfrm>
            <a:off x="4206240" y="1554480"/>
            <a:ext cx="3383280" cy="12344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0" y="1627632"/>
            <a:ext cx="3383280"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000" b="1" i="0">
                <a:solidFill>
                  <a:srgbClr val="E8743B"/>
                </a:solidFill>
                <a:latin typeface="Calibri"/>
              </a:rPr>
              <a:t>34.5%</a:t>
            </a:r>
          </a:p>
        </p:txBody>
      </p:sp>
      <p:sp>
        <p:nvSpPr>
          <p:cNvPr id="11" name="TextBox 10"/>
          <p:cNvSpPr txBox="1"/>
          <p:nvPr/>
        </p:nvSpPr>
        <p:spPr>
          <a:xfrm>
            <a:off x="4206240" y="2286000"/>
            <a:ext cx="3383280" cy="36576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sessions with any booking</a:t>
            </a:r>
          </a:p>
        </p:txBody>
      </p:sp>
      <p:sp>
        <p:nvSpPr>
          <p:cNvPr id="12" name="Rectangle 11"/>
          <p:cNvSpPr/>
          <p:nvPr/>
        </p:nvSpPr>
        <p:spPr>
          <a:xfrm>
            <a:off x="7772400" y="1554480"/>
            <a:ext cx="3749039" cy="12344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0" y="1627632"/>
            <a:ext cx="3749039"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000" b="1" i="0">
                <a:solidFill>
                  <a:srgbClr val="2A9D8F"/>
                </a:solidFill>
                <a:latin typeface="Calibri"/>
              </a:rPr>
              <a:t>25.9%</a:t>
            </a:r>
          </a:p>
        </p:txBody>
      </p:sp>
      <p:sp>
        <p:nvSpPr>
          <p:cNvPr id="14" name="TextBox 13"/>
          <p:cNvSpPr txBox="1"/>
          <p:nvPr/>
        </p:nvSpPr>
        <p:spPr>
          <a:xfrm>
            <a:off x="7772400" y="2286000"/>
            <a:ext cx="3749039" cy="36576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are flight + hotel bundles</a:t>
            </a:r>
          </a:p>
        </p:txBody>
      </p:sp>
      <p:sp>
        <p:nvSpPr>
          <p:cNvPr id="15" name="TextBox 14"/>
          <p:cNvSpPr txBox="1"/>
          <p:nvPr/>
        </p:nvSpPr>
        <p:spPr>
          <a:xfrm>
            <a:off x="640080" y="3063240"/>
            <a:ext cx="10881360" cy="3108960"/>
          </a:xfrm>
          <a:prstGeom prst="rect">
            <a:avLst/>
          </a:prstGeom>
          <a:noFill/>
        </p:spPr>
        <p:txBody>
          <a:bodyPr wrap="square" lIns="45720" tIns="0" rIns="45720">
            <a:spAutoFit/>
          </a:bodyPr>
          <a:lstStyle/>
          <a:p>
            <a:pPr>
              <a:lnSpc>
                <a:spcPct val="105000"/>
              </a:lnSpc>
              <a:spcBef>
                <a:spcPts val="0"/>
              </a:spcBef>
              <a:spcAft>
                <a:spcPts val="1100"/>
              </a:spcAft>
            </a:pPr>
            <a:r>
              <a:rPr sz="1400" b="1">
                <a:solidFill>
                  <a:srgbClr val="E8743B"/>
                </a:solidFill>
                <a:latin typeface="Calibri"/>
              </a:rPr>
              <a:t>▪  </a:t>
            </a:r>
            <a:r>
              <a:rPr sz="1400" b="0">
                <a:solidFill>
                  <a:srgbClr val="22303F"/>
                </a:solidFill>
                <a:latin typeface="Calibri"/>
              </a:rPr>
              <a:t>Built by an inner join to users plus left joins to flights and hotels — flight/hotel fields are blank exactly when no such booking happened (structural, not dirty data).</a:t>
            </a:r>
          </a:p>
          <a:p>
            <a:pPr>
              <a:lnSpc>
                <a:spcPct val="105000"/>
              </a:lnSpc>
              <a:spcBef>
                <a:spcPts val="0"/>
              </a:spcBef>
              <a:spcAft>
                <a:spcPts val="1100"/>
              </a:spcAft>
            </a:pPr>
            <a:r>
              <a:rPr sz="1400" b="1">
                <a:solidFill>
                  <a:srgbClr val="E8743B"/>
                </a:solidFill>
                <a:latin typeface="Calibri"/>
              </a:rPr>
              <a:t>▪  </a:t>
            </a:r>
            <a:r>
              <a:rPr sz="1400" b="0">
                <a:solidFill>
                  <a:srgbClr val="22303F"/>
                </a:solidFill>
                <a:latin typeface="Calibri"/>
              </a:rPr>
              <a:t>Cleaning decisions: keep structural NaNs; impute discount amounts (0 if none offered, median if offered-but-cancelled); drop 2,121 under-18 sessions (illegal + likely typos).</a:t>
            </a:r>
          </a:p>
          <a:p>
            <a:pPr>
              <a:lnSpc>
                <a:spcPct val="105000"/>
              </a:lnSpc>
              <a:spcBef>
                <a:spcPts val="0"/>
              </a:spcBef>
              <a:spcAft>
                <a:spcPts val="1100"/>
              </a:spcAft>
            </a:pPr>
            <a:r>
              <a:rPr sz="1400" b="1">
                <a:solidFill>
                  <a:srgbClr val="E8743B"/>
                </a:solidFill>
                <a:latin typeface="Calibri"/>
              </a:rPr>
              <a:t>▪  </a:t>
            </a:r>
            <a:r>
              <a:rPr sz="1400" b="0">
                <a:solidFill>
                  <a:srgbClr val="22303F"/>
                </a:solidFill>
                <a:latin typeface="Calibri"/>
              </a:rPr>
              <a:t>Re-derived nights from check-in / check-out (the raw column disagreed 60% of the time) and dropped 227 sessions with check-out before check-in.</a:t>
            </a:r>
          </a:p>
          <a:p>
            <a:pPr>
              <a:lnSpc>
                <a:spcPct val="105000"/>
              </a:lnSpc>
              <a:spcBef>
                <a:spcPts val="0"/>
              </a:spcBef>
              <a:spcAft>
                <a:spcPts val="1100"/>
              </a:spcAft>
            </a:pPr>
            <a:r>
              <a:rPr sz="1400" b="1">
                <a:solidFill>
                  <a:srgbClr val="E8743B"/>
                </a:solidFill>
                <a:latin typeface="Calibri"/>
              </a:rPr>
              <a:t>▪  </a:t>
            </a:r>
            <a:r>
              <a:rPr sz="1400" b="1">
                <a:solidFill>
                  <a:srgbClr val="22303F"/>
                </a:solidFill>
                <a:latin typeface="Calibri"/>
              </a:rPr>
              <a:t>Result: a trustworthy session table where each row faithfully records what a customer did in one visit.</a:t>
            </a:r>
          </a:p>
        </p:txBody>
      </p:sp>
      <p:sp>
        <p:nvSpPr>
          <p:cNvPr id="16" name="TextBox 15"/>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17" name="TextBox 16"/>
          <p:cNvSpPr txBox="1"/>
          <p:nvPr/>
        </p:nvSpPr>
        <p:spPr>
          <a:xfrm>
            <a:off x="11155680" y="6473952"/>
            <a:ext cx="822960" cy="274320"/>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a:solidFill>
                  <a:srgbClr val="8A94A6"/>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FEATURE ENGINEERING · SESSIONS</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Turning timestamps and flags into behaviour</a:t>
            </a:r>
          </a:p>
        </p:txBody>
      </p:sp>
      <p:sp>
        <p:nvSpPr>
          <p:cNvPr id="6" name="Rectangle 5"/>
          <p:cNvSpPr/>
          <p:nvPr/>
        </p:nvSpPr>
        <p:spPr>
          <a:xfrm>
            <a:off x="640080" y="1572768"/>
            <a:ext cx="2679192" cy="1874519"/>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72768"/>
            <a:ext cx="2679192" cy="457200"/>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572768"/>
            <a:ext cx="2679192" cy="45720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400" b="1" i="0">
                <a:solidFill>
                  <a:srgbClr val="FFFFFF"/>
                </a:solidFill>
                <a:latin typeface="Calibri"/>
              </a:rPr>
              <a:t>Conversion</a:t>
            </a:r>
          </a:p>
        </p:txBody>
      </p:sp>
      <p:sp>
        <p:nvSpPr>
          <p:cNvPr id="9" name="TextBox 8"/>
          <p:cNvSpPr txBox="1"/>
          <p:nvPr/>
        </p:nvSpPr>
        <p:spPr>
          <a:xfrm>
            <a:off x="749808" y="2148840"/>
            <a:ext cx="2496312" cy="1280160"/>
          </a:xfrm>
          <a:prstGeom prst="rect">
            <a:avLst/>
          </a:prstGeom>
          <a:noFill/>
        </p:spPr>
        <p:txBody>
          <a:bodyPr wrap="square" lIns="45720" tIns="0" rIns="45720">
            <a:spAutoFit/>
          </a:bodyPr>
          <a:lstStyle/>
          <a:p>
            <a:pPr>
              <a:lnSpc>
                <a:spcPct val="105000"/>
              </a:lnSpc>
              <a:spcBef>
                <a:spcPts val="0"/>
              </a:spcBef>
              <a:spcAft>
                <a:spcPts val="600"/>
              </a:spcAft>
            </a:pPr>
            <a:r>
              <a:rPr sz="1150" b="1">
                <a:solidFill>
                  <a:srgbClr val="E8743B"/>
                </a:solidFill>
                <a:latin typeface="Calibri"/>
              </a:rPr>
              <a:t>▪  </a:t>
            </a:r>
            <a:r>
              <a:rPr sz="1150" b="0">
                <a:solidFill>
                  <a:srgbClr val="22303F"/>
                </a:solidFill>
                <a:latin typeface="Calibri"/>
              </a:rPr>
              <a:t>any_booking / bundle / browse_only</a:t>
            </a:r>
          </a:p>
          <a:p>
            <a:pPr>
              <a:lnSpc>
                <a:spcPct val="105000"/>
              </a:lnSpc>
              <a:spcBef>
                <a:spcPts val="0"/>
              </a:spcBef>
              <a:spcAft>
                <a:spcPts val="600"/>
              </a:spcAft>
            </a:pPr>
            <a:r>
              <a:rPr sz="1150" b="1">
                <a:solidFill>
                  <a:srgbClr val="E8743B"/>
                </a:solidFill>
                <a:latin typeface="Calibri"/>
              </a:rPr>
              <a:t>▪  </a:t>
            </a:r>
            <a:r>
              <a:rPr sz="1150" b="0">
                <a:solidFill>
                  <a:srgbClr val="22303F"/>
                </a:solidFill>
                <a:latin typeface="Calibri"/>
              </a:rPr>
              <a:t>completed_booking (non-cancelled)</a:t>
            </a:r>
          </a:p>
        </p:txBody>
      </p:sp>
      <p:sp>
        <p:nvSpPr>
          <p:cNvPr id="10" name="Rectangle 9"/>
          <p:cNvSpPr/>
          <p:nvPr/>
        </p:nvSpPr>
        <p:spPr>
          <a:xfrm>
            <a:off x="3429000" y="1572768"/>
            <a:ext cx="2679192" cy="1874519"/>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572768"/>
            <a:ext cx="2679192" cy="4572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9000" y="1572768"/>
            <a:ext cx="2679192" cy="45720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400" b="1" i="0">
                <a:solidFill>
                  <a:srgbClr val="FFFFFF"/>
                </a:solidFill>
                <a:latin typeface="Calibri"/>
              </a:rPr>
              <a:t>Spend &amp; price</a:t>
            </a:r>
          </a:p>
        </p:txBody>
      </p:sp>
      <p:sp>
        <p:nvSpPr>
          <p:cNvPr id="13" name="TextBox 12"/>
          <p:cNvSpPr txBox="1"/>
          <p:nvPr/>
        </p:nvSpPr>
        <p:spPr>
          <a:xfrm>
            <a:off x="3538728" y="2148840"/>
            <a:ext cx="2496312" cy="1280160"/>
          </a:xfrm>
          <a:prstGeom prst="rect">
            <a:avLst/>
          </a:prstGeom>
          <a:noFill/>
        </p:spPr>
        <p:txBody>
          <a:bodyPr wrap="square" lIns="45720" tIns="0" rIns="45720">
            <a:spAutoFit/>
          </a:bodyPr>
          <a:lstStyle/>
          <a:p>
            <a:pPr>
              <a:lnSpc>
                <a:spcPct val="105000"/>
              </a:lnSpc>
              <a:spcBef>
                <a:spcPts val="0"/>
              </a:spcBef>
              <a:spcAft>
                <a:spcPts val="600"/>
              </a:spcAft>
            </a:pPr>
            <a:r>
              <a:rPr sz="1150" b="1">
                <a:solidFill>
                  <a:srgbClr val="2A9D8F"/>
                </a:solidFill>
                <a:latin typeface="Calibri"/>
              </a:rPr>
              <a:t>▪  </a:t>
            </a:r>
            <a:r>
              <a:rPr sz="1150" b="0">
                <a:solidFill>
                  <a:srgbClr val="22303F"/>
                </a:solidFill>
                <a:latin typeface="Calibri"/>
              </a:rPr>
              <a:t>total_session_spend</a:t>
            </a:r>
          </a:p>
          <a:p>
            <a:pPr>
              <a:lnSpc>
                <a:spcPct val="105000"/>
              </a:lnSpc>
              <a:spcBef>
                <a:spcPts val="0"/>
              </a:spcBef>
              <a:spcAft>
                <a:spcPts val="600"/>
              </a:spcAft>
            </a:pPr>
            <a:r>
              <a:rPr sz="1150" b="1">
                <a:solidFill>
                  <a:srgbClr val="2A9D8F"/>
                </a:solidFill>
                <a:latin typeface="Calibri"/>
              </a:rPr>
              <a:t>▪  </a:t>
            </a:r>
            <a:r>
              <a:rPr sz="1150" b="0">
                <a:solidFill>
                  <a:srgbClr val="22303F"/>
                </a:solidFill>
                <a:latin typeface="Calibri"/>
              </a:rPr>
              <a:t>discount_savings_pct</a:t>
            </a:r>
          </a:p>
        </p:txBody>
      </p:sp>
      <p:sp>
        <p:nvSpPr>
          <p:cNvPr id="14" name="Rectangle 13"/>
          <p:cNvSpPr/>
          <p:nvPr/>
        </p:nvSpPr>
        <p:spPr>
          <a:xfrm>
            <a:off x="6217920" y="1572768"/>
            <a:ext cx="2679192" cy="1874519"/>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572768"/>
            <a:ext cx="2679192" cy="457200"/>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572768"/>
            <a:ext cx="2679192" cy="45720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400" b="1" i="0">
                <a:solidFill>
                  <a:srgbClr val="FFFFFF"/>
                </a:solidFill>
                <a:latin typeface="Calibri"/>
              </a:rPr>
              <a:t>Trip shape</a:t>
            </a:r>
          </a:p>
        </p:txBody>
      </p:sp>
      <p:sp>
        <p:nvSpPr>
          <p:cNvPr id="17" name="TextBox 16"/>
          <p:cNvSpPr txBox="1"/>
          <p:nvPr/>
        </p:nvSpPr>
        <p:spPr>
          <a:xfrm>
            <a:off x="6327648" y="2148840"/>
            <a:ext cx="2496312" cy="1280160"/>
          </a:xfrm>
          <a:prstGeom prst="rect">
            <a:avLst/>
          </a:prstGeom>
          <a:noFill/>
        </p:spPr>
        <p:txBody>
          <a:bodyPr wrap="square" lIns="45720" tIns="0" rIns="45720">
            <a:spAutoFit/>
          </a:bodyPr>
          <a:lstStyle/>
          <a:p>
            <a:pPr>
              <a:lnSpc>
                <a:spcPct val="105000"/>
              </a:lnSpc>
              <a:spcBef>
                <a:spcPts val="0"/>
              </a:spcBef>
              <a:spcAft>
                <a:spcPts val="600"/>
              </a:spcAft>
            </a:pPr>
            <a:r>
              <a:rPr sz="1150" b="1">
                <a:solidFill>
                  <a:srgbClr val="3D6FB4"/>
                </a:solidFill>
                <a:latin typeface="Calibri"/>
              </a:rPr>
              <a:t>▪  </a:t>
            </a:r>
            <a:r>
              <a:rPr sz="1150" b="0">
                <a:solidFill>
                  <a:srgbClr val="22303F"/>
                </a:solidFill>
                <a:latin typeface="Calibri"/>
              </a:rPr>
              <a:t>lead_time_days, trip_duration</a:t>
            </a:r>
          </a:p>
          <a:p>
            <a:pPr>
              <a:lnSpc>
                <a:spcPct val="105000"/>
              </a:lnSpc>
              <a:spcBef>
                <a:spcPts val="0"/>
              </a:spcBef>
              <a:spcAft>
                <a:spcPts val="600"/>
              </a:spcAft>
            </a:pPr>
            <a:r>
              <a:rPr sz="1150" b="1">
                <a:solidFill>
                  <a:srgbClr val="3D6FB4"/>
                </a:solidFill>
                <a:latin typeface="Calibri"/>
              </a:rPr>
              <a:t>▪  </a:t>
            </a:r>
            <a:r>
              <a:rPr sz="1150" b="0">
                <a:solidFill>
                  <a:srgbClr val="22303F"/>
                </a:solidFill>
                <a:latin typeface="Calibri"/>
              </a:rPr>
              <a:t>is_solo, is_international*</a:t>
            </a:r>
          </a:p>
        </p:txBody>
      </p:sp>
      <p:sp>
        <p:nvSpPr>
          <p:cNvPr id="18" name="Rectangle 17"/>
          <p:cNvSpPr/>
          <p:nvPr/>
        </p:nvSpPr>
        <p:spPr>
          <a:xfrm>
            <a:off x="9006840" y="1572768"/>
            <a:ext cx="2679192" cy="1874519"/>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1572768"/>
            <a:ext cx="2679192" cy="457200"/>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06840" y="1572768"/>
            <a:ext cx="2679192" cy="457200"/>
          </a:xfrm>
          <a:prstGeom prst="rect">
            <a:avLst/>
          </a:prstGeom>
          <a:noFill/>
        </p:spPr>
        <p:txBody>
          <a:bodyPr wrap="square" lIns="45720" tIns="0" rIns="45720" bIns="0" anchor="ctr">
            <a:spAutoFit/>
          </a:bodyPr>
          <a:lstStyle/>
          <a:p>
            <a:pPr algn="ctr">
              <a:lnSpc>
                <a:spcPct val="100000"/>
              </a:lnSpc>
              <a:spcBef>
                <a:spcPts val="0"/>
              </a:spcBef>
              <a:spcAft>
                <a:spcPts val="400"/>
              </a:spcAft>
            </a:pPr>
            <a:r>
              <a:rPr sz="1400" b="1" i="0">
                <a:solidFill>
                  <a:srgbClr val="FFFFFF"/>
                </a:solidFill>
                <a:latin typeface="Calibri"/>
              </a:rPr>
              <a:t>Effort</a:t>
            </a:r>
          </a:p>
        </p:txBody>
      </p:sp>
      <p:sp>
        <p:nvSpPr>
          <p:cNvPr id="21" name="TextBox 20"/>
          <p:cNvSpPr txBox="1"/>
          <p:nvPr/>
        </p:nvSpPr>
        <p:spPr>
          <a:xfrm>
            <a:off x="9116568" y="2148840"/>
            <a:ext cx="2496312" cy="1280160"/>
          </a:xfrm>
          <a:prstGeom prst="rect">
            <a:avLst/>
          </a:prstGeom>
          <a:noFill/>
        </p:spPr>
        <p:txBody>
          <a:bodyPr wrap="square" lIns="45720" tIns="0" rIns="45720">
            <a:spAutoFit/>
          </a:bodyPr>
          <a:lstStyle/>
          <a:p>
            <a:pPr>
              <a:lnSpc>
                <a:spcPct val="105000"/>
              </a:lnSpc>
              <a:spcBef>
                <a:spcPts val="0"/>
              </a:spcBef>
              <a:spcAft>
                <a:spcPts val="600"/>
              </a:spcAft>
            </a:pPr>
            <a:r>
              <a:rPr sz="1150" b="1">
                <a:solidFill>
                  <a:srgbClr val="E9B949"/>
                </a:solidFill>
                <a:latin typeface="Calibri"/>
              </a:rPr>
              <a:t>▪  </a:t>
            </a:r>
            <a:r>
              <a:rPr sz="1150" b="0">
                <a:solidFill>
                  <a:srgbClr val="22303F"/>
                </a:solidFill>
                <a:latin typeface="Calibri"/>
              </a:rPr>
              <a:t>session_duration_min</a:t>
            </a:r>
          </a:p>
          <a:p>
            <a:pPr>
              <a:lnSpc>
                <a:spcPct val="105000"/>
              </a:lnSpc>
              <a:spcBef>
                <a:spcPts val="0"/>
              </a:spcBef>
              <a:spcAft>
                <a:spcPts val="600"/>
              </a:spcAft>
            </a:pPr>
            <a:r>
              <a:rPr sz="1150" b="1">
                <a:solidFill>
                  <a:srgbClr val="E9B949"/>
                </a:solidFill>
                <a:latin typeface="Calibri"/>
              </a:rPr>
              <a:t>▪  </a:t>
            </a:r>
            <a:r>
              <a:rPr sz="1150" b="0">
                <a:solidFill>
                  <a:srgbClr val="22303F"/>
                </a:solidFill>
                <a:latin typeface="Calibri"/>
              </a:rPr>
              <a:t>page_clicks</a:t>
            </a:r>
          </a:p>
        </p:txBody>
      </p:sp>
      <p:sp>
        <p:nvSpPr>
          <p:cNvPr id="22" name="Rectangle 21"/>
          <p:cNvSpPr/>
          <p:nvPr/>
        </p:nvSpPr>
        <p:spPr>
          <a:xfrm>
            <a:off x="640080" y="3657600"/>
            <a:ext cx="10881360" cy="23774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3822191"/>
            <a:ext cx="10424160" cy="365760"/>
          </a:xfrm>
          <a:prstGeom prst="rect">
            <a:avLst/>
          </a:prstGeom>
          <a:noFill/>
        </p:spPr>
        <p:txBody>
          <a:bodyPr wrap="square" lIns="45720" tIns="0" rIns="45720" bIns="0" anchor="t">
            <a:spAutoFit/>
          </a:bodyPr>
          <a:lstStyle/>
          <a:p>
            <a:pPr algn="l">
              <a:lnSpc>
                <a:spcPct val="100000"/>
              </a:lnSpc>
              <a:spcBef>
                <a:spcPts val="0"/>
              </a:spcBef>
              <a:spcAft>
                <a:spcPts val="400"/>
              </a:spcAft>
            </a:pPr>
            <a:r>
              <a:rPr sz="1500" b="1" i="0">
                <a:solidFill>
                  <a:srgbClr val="1F3A5F"/>
                </a:solidFill>
                <a:latin typeface="Calibri"/>
              </a:rPr>
              <a:t>Two engineering details that protect signal quality</a:t>
            </a:r>
          </a:p>
        </p:txBody>
      </p:sp>
      <p:sp>
        <p:nvSpPr>
          <p:cNvPr id="24" name="TextBox 23"/>
          <p:cNvSpPr txBox="1"/>
          <p:nvPr/>
        </p:nvSpPr>
        <p:spPr>
          <a:xfrm>
            <a:off x="868680" y="4297680"/>
            <a:ext cx="10424160" cy="1645920"/>
          </a:xfrm>
          <a:prstGeom prst="rect">
            <a:avLst/>
          </a:prstGeom>
          <a:noFill/>
        </p:spPr>
        <p:txBody>
          <a:bodyPr wrap="square" lIns="45720" tIns="0" rIns="45720">
            <a:spAutoFit/>
          </a:bodyPr>
          <a:lstStyle/>
          <a:p>
            <a:pPr>
              <a:lnSpc>
                <a:spcPct val="105000"/>
              </a:lnSpc>
              <a:spcBef>
                <a:spcPts val="0"/>
              </a:spcBef>
              <a:spcAft>
                <a:spcPts val="900"/>
              </a:spcAft>
            </a:pPr>
            <a:r>
              <a:rPr sz="1300" b="1">
                <a:solidFill>
                  <a:srgbClr val="E8743B"/>
                </a:solidFill>
                <a:latin typeface="Calibri"/>
              </a:rPr>
              <a:t>▪  </a:t>
            </a:r>
            <a:r>
              <a:rPr sz="1300" b="0">
                <a:solidFill>
                  <a:srgbClr val="22303F"/>
                </a:solidFill>
                <a:latin typeface="Calibri"/>
              </a:rPr>
              <a:t>*International flagging is a 3-layer classifier: Canadian Y-prefix codes, an override list for city-name collisions (London-UK vs London-Ontario), then a North-America coordinate box — so 'international' is accurate, not guessed.</a:t>
            </a:r>
          </a:p>
          <a:p>
            <a:pPr>
              <a:lnSpc>
                <a:spcPct val="105000"/>
              </a:lnSpc>
              <a:spcBef>
                <a:spcPts val="0"/>
              </a:spcBef>
              <a:spcAft>
                <a:spcPts val="900"/>
              </a:spcAft>
            </a:pPr>
            <a:r>
              <a:rPr sz="1300" b="1">
                <a:solidFill>
                  <a:srgbClr val="E8743B"/>
                </a:solidFill>
                <a:latin typeface="Calibri"/>
              </a:rPr>
              <a:t>▪  </a:t>
            </a:r>
            <a:r>
              <a:rPr sz="1300" b="0">
                <a:solidFill>
                  <a:srgbClr val="22303F"/>
                </a:solidFill>
                <a:latin typeface="Calibri"/>
              </a:rPr>
              <a:t>Completed-only variants (fares, nights, airline) strip out cancelled trips, so price and loyalty signals aren't diluted by bookings that never happened.</a:t>
            </a:r>
          </a:p>
        </p:txBody>
      </p:sp>
      <p:sp>
        <p:nvSpPr>
          <p:cNvPr id="25" name="TextBox 24"/>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26" name="TextBox 25"/>
          <p:cNvSpPr txBox="1"/>
          <p:nvPr/>
        </p:nvSpPr>
        <p:spPr>
          <a:xfrm>
            <a:off x="11155680" y="6473952"/>
            <a:ext cx="822960" cy="274320"/>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a:solidFill>
                  <a:srgbClr val="8A94A6"/>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91695" cy="54864"/>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1115568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INSIGHT 1 · CONVERSION</a:t>
            </a:r>
          </a:p>
        </p:txBody>
      </p:sp>
      <p:sp>
        <p:nvSpPr>
          <p:cNvPr id="5" name="TextBox 4"/>
          <p:cNvSpPr txBox="1"/>
          <p:nvPr/>
        </p:nvSpPr>
        <p:spPr>
          <a:xfrm>
            <a:off x="502920" y="402336"/>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FFFFFF"/>
                </a:solidFill>
                <a:latin typeface="Calibri"/>
              </a:rPr>
              <a:t>Two-thirds of every visit ends without a booking</a:t>
            </a:r>
          </a:p>
        </p:txBody>
      </p:sp>
      <p:sp>
        <p:nvSpPr>
          <p:cNvPr id="6" name="Rectangle 5"/>
          <p:cNvSpPr/>
          <p:nvPr/>
        </p:nvSpPr>
        <p:spPr>
          <a:xfrm>
            <a:off x="457200" y="1417320"/>
            <a:ext cx="6446520" cy="452628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ession_01_outcomes.png"/>
          <p:cNvPicPr>
            <a:picLocks noChangeAspect="1"/>
          </p:cNvPicPr>
          <p:nvPr/>
        </p:nvPicPr>
        <p:blipFill>
          <a:blip r:embed="rId3"/>
          <a:stretch>
            <a:fillRect/>
          </a:stretch>
        </p:blipFill>
        <p:spPr>
          <a:xfrm>
            <a:off x="548640" y="1918493"/>
            <a:ext cx="6263640" cy="3523934"/>
          </a:xfrm>
          <a:prstGeom prst="rect">
            <a:avLst/>
          </a:prstGeom>
        </p:spPr>
      </p:pic>
      <p:sp>
        <p:nvSpPr>
          <p:cNvPr id="8" name="Rectangle 7"/>
          <p:cNvSpPr/>
          <p:nvPr/>
        </p:nvSpPr>
        <p:spPr>
          <a:xfrm>
            <a:off x="50292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6B7685"/>
                </a:solidFill>
                <a:latin typeface="Calibri"/>
              </a:rPr>
              <a:t>65.5%</a:t>
            </a:r>
          </a:p>
        </p:txBody>
      </p:sp>
      <p:sp>
        <p:nvSpPr>
          <p:cNvPr id="10" name="TextBox 9"/>
          <p:cNvSpPr txBox="1"/>
          <p:nvPr/>
        </p:nvSpPr>
        <p:spPr>
          <a:xfrm>
            <a:off x="50292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browse-only sessions</a:t>
            </a:r>
          </a:p>
        </p:txBody>
      </p:sp>
      <p:sp>
        <p:nvSpPr>
          <p:cNvPr id="11" name="Rectangle 10"/>
          <p:cNvSpPr/>
          <p:nvPr/>
        </p:nvSpPr>
        <p:spPr>
          <a:xfrm>
            <a:off x="269748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3D6FB4"/>
                </a:solidFill>
                <a:latin typeface="Calibri"/>
              </a:rPr>
              <a:t>34.5%</a:t>
            </a:r>
          </a:p>
        </p:txBody>
      </p:sp>
      <p:sp>
        <p:nvSpPr>
          <p:cNvPr id="13" name="TextBox 12"/>
          <p:cNvSpPr txBox="1"/>
          <p:nvPr/>
        </p:nvSpPr>
        <p:spPr>
          <a:xfrm>
            <a:off x="269748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convert to a booking</a:t>
            </a:r>
          </a:p>
        </p:txBody>
      </p:sp>
      <p:sp>
        <p:nvSpPr>
          <p:cNvPr id="14" name="Rectangle 13"/>
          <p:cNvSpPr/>
          <p:nvPr/>
        </p:nvSpPr>
        <p:spPr>
          <a:xfrm>
            <a:off x="489204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9204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E8743B"/>
                </a:solidFill>
                <a:latin typeface="Calibri"/>
              </a:rPr>
              <a:t>25.9%</a:t>
            </a:r>
          </a:p>
        </p:txBody>
      </p:sp>
      <p:sp>
        <p:nvSpPr>
          <p:cNvPr id="16" name="TextBox 15"/>
          <p:cNvSpPr txBox="1"/>
          <p:nvPr/>
        </p:nvSpPr>
        <p:spPr>
          <a:xfrm>
            <a:off x="489204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are flight+hotel bundles</a:t>
            </a:r>
          </a:p>
        </p:txBody>
      </p:sp>
      <p:sp>
        <p:nvSpPr>
          <p:cNvPr id="17" name="TextBox 16"/>
          <p:cNvSpPr txBox="1"/>
          <p:nvPr/>
        </p:nvSpPr>
        <p:spPr>
          <a:xfrm>
            <a:off x="7178040" y="1481328"/>
            <a:ext cx="461772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WHAT THE DATA SHOWS</a:t>
            </a:r>
          </a:p>
        </p:txBody>
      </p:sp>
      <p:sp>
        <p:nvSpPr>
          <p:cNvPr id="18" name="Rectangle 17"/>
          <p:cNvSpPr/>
          <p:nvPr/>
        </p:nvSpPr>
        <p:spPr>
          <a:xfrm>
            <a:off x="7178040" y="1810512"/>
            <a:ext cx="502920" cy="41148"/>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78040" y="1938528"/>
            <a:ext cx="4617720" cy="2103120"/>
          </a:xfrm>
          <a:prstGeom prst="rect">
            <a:avLst/>
          </a:prstGeom>
          <a:noFill/>
        </p:spPr>
        <p:txBody>
          <a:bodyPr wrap="square" lIns="45720" tIns="0" rIns="45720">
            <a:spAutoFit/>
          </a:bodyPr>
          <a:lstStyle/>
          <a:p>
            <a:pPr>
              <a:lnSpc>
                <a:spcPct val="105000"/>
              </a:lnSpc>
              <a:spcBef>
                <a:spcPts val="0"/>
              </a:spcBef>
              <a:spcAft>
                <a:spcPts val="700"/>
              </a:spcAft>
            </a:pPr>
            <a:r>
              <a:rPr sz="1350" b="1">
                <a:solidFill>
                  <a:srgbClr val="3D6FB4"/>
                </a:solidFill>
                <a:latin typeface="Calibri"/>
              </a:rPr>
              <a:t>▪  </a:t>
            </a:r>
            <a:r>
              <a:rPr sz="1350" b="0">
                <a:solidFill>
                  <a:srgbClr val="22303F"/>
                </a:solidFill>
                <a:latin typeface="Calibri"/>
              </a:rPr>
              <a:t>30,710 of 46,863 sessions (65.5%) are browse-only — the engineered browse_only flag fires on two of every three visits.</a:t>
            </a:r>
          </a:p>
          <a:p>
            <a:pPr>
              <a:lnSpc>
                <a:spcPct val="105000"/>
              </a:lnSpc>
              <a:spcBef>
                <a:spcPts val="0"/>
              </a:spcBef>
              <a:spcAft>
                <a:spcPts val="700"/>
              </a:spcAft>
            </a:pPr>
            <a:r>
              <a:rPr sz="1350" b="1">
                <a:solidFill>
                  <a:srgbClr val="3D6FB4"/>
                </a:solidFill>
                <a:latin typeface="Calibri"/>
              </a:rPr>
              <a:t>▪  </a:t>
            </a:r>
            <a:r>
              <a:rPr sz="1350" b="0">
                <a:solidFill>
                  <a:srgbClr val="22303F"/>
                </a:solidFill>
                <a:latin typeface="Calibri"/>
              </a:rPr>
              <a:t>Of the third that do book, bundles (25.9%) outnumber flight-only (3.7%) and hotel-only (4.8%) combined.</a:t>
            </a:r>
          </a:p>
          <a:p>
            <a:pPr>
              <a:lnSpc>
                <a:spcPct val="105000"/>
              </a:lnSpc>
              <a:spcBef>
                <a:spcPts val="0"/>
              </a:spcBef>
              <a:spcAft>
                <a:spcPts val="700"/>
              </a:spcAft>
            </a:pPr>
            <a:r>
              <a:rPr sz="1350" b="1">
                <a:solidFill>
                  <a:srgbClr val="3D6FB4"/>
                </a:solidFill>
                <a:latin typeface="Calibri"/>
              </a:rPr>
              <a:t>▪  </a:t>
            </a:r>
            <a:r>
              <a:rPr sz="1350" b="1">
                <a:solidFill>
                  <a:srgbClr val="22303F"/>
                </a:solidFill>
                <a:latin typeface="Calibri"/>
              </a:rPr>
              <a:t>So conversion is rare, but when it happens it skews to the highest-value basket — the full flight + hotel trip.</a:t>
            </a:r>
          </a:p>
        </p:txBody>
      </p:sp>
      <p:sp>
        <p:nvSpPr>
          <p:cNvPr id="20" name="Rectangle 19"/>
          <p:cNvSpPr/>
          <p:nvPr/>
        </p:nvSpPr>
        <p:spPr>
          <a:xfrm>
            <a:off x="7178040" y="4160520"/>
            <a:ext cx="4617720" cy="21488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60920" y="4297680"/>
            <a:ext cx="429768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E8743B"/>
                </a:solidFill>
                <a:latin typeface="Calibri"/>
              </a:rPr>
              <a:t>WHAT IT MEANS</a:t>
            </a:r>
          </a:p>
        </p:txBody>
      </p:sp>
      <p:sp>
        <p:nvSpPr>
          <p:cNvPr id="22" name="Rectangle 21"/>
          <p:cNvSpPr/>
          <p:nvPr/>
        </p:nvSpPr>
        <p:spPr>
          <a:xfrm>
            <a:off x="7360920" y="4626864"/>
            <a:ext cx="502920" cy="4114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20" y="4754880"/>
            <a:ext cx="4251960" cy="1463040"/>
          </a:xfrm>
          <a:prstGeom prst="rect">
            <a:avLst/>
          </a:prstGeom>
          <a:noFill/>
        </p:spPr>
        <p:txBody>
          <a:bodyPr wrap="square" lIns="45720" tIns="0" rIns="45720">
            <a:spAutoFit/>
          </a:bodyPr>
          <a:lstStyle/>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Activation is the single biggest lever: nudging even a few percent of browsers into a first booking dwarfs any up-sell.</a:t>
            </a:r>
          </a:p>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Bundles are the value engine — protect and grow them; a bundle nudge on flight-only sessions is high-leverage.</a:t>
            </a:r>
          </a:p>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Treat 'did they book?' as a first-class KPI, not a vanity metric — it is the activation target the perks must move.</a:t>
            </a:r>
          </a:p>
        </p:txBody>
      </p:sp>
      <p:sp>
        <p:nvSpPr>
          <p:cNvPr id="25" name="TextBox 24"/>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8</a:t>
            </a:r>
            <a:endParaRPr sz="900" b="0" i="0" dirty="0">
              <a:solidFill>
                <a:srgbClr val="8A94A6"/>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1115568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INSIGHT 2 · PLANNING HORIZON</a:t>
            </a:r>
          </a:p>
        </p:txBody>
      </p:sp>
      <p:sp>
        <p:nvSpPr>
          <p:cNvPr id="5" name="TextBox 4"/>
          <p:cNvSpPr txBox="1"/>
          <p:nvPr/>
        </p:nvSpPr>
        <p:spPr>
          <a:xfrm>
            <a:off x="502920" y="402336"/>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FFFFFF"/>
                </a:solidFill>
                <a:latin typeface="Calibri"/>
              </a:rPr>
              <a:t>We're really running two businesses: impulse trips and far-advance trips</a:t>
            </a:r>
          </a:p>
        </p:txBody>
      </p:sp>
      <p:sp>
        <p:nvSpPr>
          <p:cNvPr id="6" name="Rectangle 5"/>
          <p:cNvSpPr/>
          <p:nvPr/>
        </p:nvSpPr>
        <p:spPr>
          <a:xfrm>
            <a:off x="457200" y="1417320"/>
            <a:ext cx="6446520" cy="452628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ession_05_lead_bimodal.png"/>
          <p:cNvPicPr>
            <a:picLocks noChangeAspect="1"/>
          </p:cNvPicPr>
          <p:nvPr/>
        </p:nvPicPr>
        <p:blipFill>
          <a:blip r:embed="rId3"/>
          <a:stretch>
            <a:fillRect/>
          </a:stretch>
        </p:blipFill>
        <p:spPr>
          <a:xfrm>
            <a:off x="548640" y="1886940"/>
            <a:ext cx="6263640" cy="3587040"/>
          </a:xfrm>
          <a:prstGeom prst="rect">
            <a:avLst/>
          </a:prstGeom>
        </p:spPr>
      </p:pic>
      <p:sp>
        <p:nvSpPr>
          <p:cNvPr id="8" name="Rectangle 7"/>
          <p:cNvSpPr/>
          <p:nvPr/>
        </p:nvSpPr>
        <p:spPr>
          <a:xfrm>
            <a:off x="50292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3D6FB4"/>
                </a:solidFill>
                <a:latin typeface="Calibri"/>
              </a:rPr>
              <a:t>95%</a:t>
            </a:r>
          </a:p>
        </p:txBody>
      </p:sp>
      <p:sp>
        <p:nvSpPr>
          <p:cNvPr id="10" name="TextBox 9"/>
          <p:cNvSpPr txBox="1"/>
          <p:nvPr/>
        </p:nvSpPr>
        <p:spPr>
          <a:xfrm>
            <a:off x="50292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book ≤ 30 days out</a:t>
            </a:r>
          </a:p>
        </p:txBody>
      </p:sp>
      <p:sp>
        <p:nvSpPr>
          <p:cNvPr id="11" name="Rectangle 10"/>
          <p:cNvSpPr/>
          <p:nvPr/>
        </p:nvSpPr>
        <p:spPr>
          <a:xfrm>
            <a:off x="269748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E8743B"/>
                </a:solidFill>
                <a:latin typeface="Calibri"/>
              </a:rPr>
              <a:t>~5×</a:t>
            </a:r>
          </a:p>
        </p:txBody>
      </p:sp>
      <p:sp>
        <p:nvSpPr>
          <p:cNvPr id="13" name="TextBox 12"/>
          <p:cNvSpPr txBox="1"/>
          <p:nvPr/>
        </p:nvSpPr>
        <p:spPr>
          <a:xfrm>
            <a:off x="269748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fare on far-advance trips</a:t>
            </a:r>
          </a:p>
        </p:txBody>
      </p:sp>
      <p:sp>
        <p:nvSpPr>
          <p:cNvPr id="14" name="Rectangle 13"/>
          <p:cNvSpPr/>
          <p:nvPr/>
        </p:nvSpPr>
        <p:spPr>
          <a:xfrm>
            <a:off x="489204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9204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6B7685"/>
                </a:solidFill>
                <a:latin typeface="Calibri"/>
              </a:rPr>
              <a:t>0.1%</a:t>
            </a:r>
          </a:p>
        </p:txBody>
      </p:sp>
      <p:sp>
        <p:nvSpPr>
          <p:cNvPr id="16" name="TextBox 15"/>
          <p:cNvSpPr txBox="1"/>
          <p:nvPr/>
        </p:nvSpPr>
        <p:spPr>
          <a:xfrm>
            <a:off x="489204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fall in the 30–90d gap</a:t>
            </a:r>
          </a:p>
        </p:txBody>
      </p:sp>
      <p:sp>
        <p:nvSpPr>
          <p:cNvPr id="17" name="TextBox 16"/>
          <p:cNvSpPr txBox="1"/>
          <p:nvPr/>
        </p:nvSpPr>
        <p:spPr>
          <a:xfrm>
            <a:off x="7178040" y="1481328"/>
            <a:ext cx="461772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WHAT THE DATA SHOWS</a:t>
            </a:r>
          </a:p>
        </p:txBody>
      </p:sp>
      <p:sp>
        <p:nvSpPr>
          <p:cNvPr id="18" name="Rectangle 17"/>
          <p:cNvSpPr/>
          <p:nvPr/>
        </p:nvSpPr>
        <p:spPr>
          <a:xfrm>
            <a:off x="7178040" y="1810512"/>
            <a:ext cx="502920" cy="4114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78040" y="1938528"/>
            <a:ext cx="4617720" cy="2103120"/>
          </a:xfrm>
          <a:prstGeom prst="rect">
            <a:avLst/>
          </a:prstGeom>
          <a:noFill/>
        </p:spPr>
        <p:txBody>
          <a:bodyPr wrap="square" lIns="45720" tIns="0" rIns="45720">
            <a:spAutoFit/>
          </a:bodyPr>
          <a:lstStyle/>
          <a:p>
            <a:pPr>
              <a:lnSpc>
                <a:spcPct val="105000"/>
              </a:lnSpc>
              <a:spcBef>
                <a:spcPts val="0"/>
              </a:spcBef>
              <a:spcAft>
                <a:spcPts val="700"/>
              </a:spcAft>
            </a:pPr>
            <a:r>
              <a:rPr sz="1350" b="1">
                <a:solidFill>
                  <a:srgbClr val="E8743B"/>
                </a:solidFill>
                <a:latin typeface="Calibri"/>
              </a:rPr>
              <a:t>▪  </a:t>
            </a:r>
            <a:r>
              <a:rPr sz="1350" b="0">
                <a:solidFill>
                  <a:srgbClr val="22303F"/>
                </a:solidFill>
                <a:latin typeface="Calibri"/>
              </a:rPr>
              <a:t>The engineered lead_time_days feature (departure minus session start) is sharply bimodal — not a smooth spread.</a:t>
            </a:r>
          </a:p>
          <a:p>
            <a:pPr>
              <a:lnSpc>
                <a:spcPct val="105000"/>
              </a:lnSpc>
              <a:spcBef>
                <a:spcPts val="0"/>
              </a:spcBef>
              <a:spcAft>
                <a:spcPts val="700"/>
              </a:spcAft>
            </a:pPr>
            <a:r>
              <a:rPr sz="1350" b="1">
                <a:solidFill>
                  <a:srgbClr val="E8743B"/>
                </a:solidFill>
                <a:latin typeface="Calibri"/>
              </a:rPr>
              <a:t>▪  </a:t>
            </a:r>
            <a:r>
              <a:rPr sz="1350" b="0">
                <a:solidFill>
                  <a:srgbClr val="22303F"/>
                </a:solidFill>
                <a:latin typeface="Calibri"/>
              </a:rPr>
              <a:t>95% are last-minute: median 7-day lead, median fare $371, mostly domestic.</a:t>
            </a:r>
          </a:p>
          <a:p>
            <a:pPr>
              <a:lnSpc>
                <a:spcPct val="105000"/>
              </a:lnSpc>
              <a:spcBef>
                <a:spcPts val="0"/>
              </a:spcBef>
              <a:spcAft>
                <a:spcPts val="700"/>
              </a:spcAft>
            </a:pPr>
            <a:r>
              <a:rPr sz="1350" b="1">
                <a:solidFill>
                  <a:srgbClr val="E8743B"/>
                </a:solidFill>
                <a:latin typeface="Calibri"/>
              </a:rPr>
              <a:t>▪  </a:t>
            </a:r>
            <a:r>
              <a:rPr sz="1350" b="1">
                <a:solidFill>
                  <a:srgbClr val="22303F"/>
                </a:solidFill>
                <a:latin typeface="Calibri"/>
              </a:rPr>
              <a:t>A separate ~5% book far ahead: median 224 days, median fare $1,775 (~5×), and 71% fly international.</a:t>
            </a:r>
          </a:p>
          <a:p>
            <a:pPr>
              <a:lnSpc>
                <a:spcPct val="105000"/>
              </a:lnSpc>
              <a:spcBef>
                <a:spcPts val="0"/>
              </a:spcBef>
              <a:spcAft>
                <a:spcPts val="700"/>
              </a:spcAft>
            </a:pPr>
            <a:r>
              <a:rPr sz="1350" b="1">
                <a:solidFill>
                  <a:srgbClr val="E8743B"/>
                </a:solidFill>
                <a:latin typeface="Calibri"/>
              </a:rPr>
              <a:t>▪  </a:t>
            </a:r>
            <a:r>
              <a:rPr sz="1350" b="0">
                <a:solidFill>
                  <a:srgbClr val="22303F"/>
                </a:solidFill>
                <a:latin typeface="Calibri"/>
              </a:rPr>
              <a:t>Almost nobody books in the 30–90 day middle — a genuine empty valley, so these are two distinct populations.</a:t>
            </a:r>
          </a:p>
        </p:txBody>
      </p:sp>
      <p:sp>
        <p:nvSpPr>
          <p:cNvPr id="20" name="Rectangle 19"/>
          <p:cNvSpPr/>
          <p:nvPr/>
        </p:nvSpPr>
        <p:spPr>
          <a:xfrm>
            <a:off x="7178040" y="4160520"/>
            <a:ext cx="4617720" cy="21488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60920" y="4297680"/>
            <a:ext cx="429768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E8743B"/>
                </a:solidFill>
                <a:latin typeface="Calibri"/>
              </a:rPr>
              <a:t>WHAT IT MEANS</a:t>
            </a:r>
          </a:p>
        </p:txBody>
      </p:sp>
      <p:sp>
        <p:nvSpPr>
          <p:cNvPr id="22" name="Rectangle 21"/>
          <p:cNvSpPr/>
          <p:nvPr/>
        </p:nvSpPr>
        <p:spPr>
          <a:xfrm>
            <a:off x="7360920" y="4626864"/>
            <a:ext cx="502920" cy="4114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20" y="4754880"/>
            <a:ext cx="4251960" cy="1463040"/>
          </a:xfrm>
          <a:prstGeom prst="rect">
            <a:avLst/>
          </a:prstGeom>
          <a:noFill/>
        </p:spPr>
        <p:txBody>
          <a:bodyPr wrap="square" lIns="45720" tIns="0" rIns="45720">
            <a:spAutoFit/>
          </a:bodyPr>
          <a:lstStyle/>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One booking flow and one perk can't serve both — speed/loyalty for the impulse mass, flexibility for the planners.</a:t>
            </a:r>
          </a:p>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The far-advance group is small but the highest-value trips on the platform — they are the Premium-planner segment.</a:t>
            </a:r>
          </a:p>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A single engineered feature already isolates a premium segment before any clustering — proof the feature work pays off.</a:t>
            </a:r>
          </a:p>
        </p:txBody>
      </p:sp>
      <p:sp>
        <p:nvSpPr>
          <p:cNvPr id="25" name="TextBox 24"/>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9</a:t>
            </a:r>
            <a:endParaRPr sz="900" b="0" i="0" dirty="0">
              <a:solidFill>
                <a:srgbClr val="8A94A6"/>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91695" cy="54864"/>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1115568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INSIGHT 3 · COMMITMENT</a:t>
            </a:r>
          </a:p>
        </p:txBody>
      </p:sp>
      <p:sp>
        <p:nvSpPr>
          <p:cNvPr id="5" name="TextBox 4"/>
          <p:cNvSpPr txBox="1"/>
          <p:nvPr/>
        </p:nvSpPr>
        <p:spPr>
          <a:xfrm>
            <a:off x="502920" y="402336"/>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FFFFFF"/>
                </a:solidFill>
                <a:latin typeface="Calibri"/>
              </a:rPr>
              <a:t>Cancellation risk lives almost entirely in bundles</a:t>
            </a:r>
          </a:p>
        </p:txBody>
      </p:sp>
      <p:sp>
        <p:nvSpPr>
          <p:cNvPr id="6" name="Rectangle 5"/>
          <p:cNvSpPr/>
          <p:nvPr/>
        </p:nvSpPr>
        <p:spPr>
          <a:xfrm>
            <a:off x="457200" y="1417320"/>
            <a:ext cx="6446520" cy="452628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ession_03_cancellation.png"/>
          <p:cNvPicPr>
            <a:picLocks noChangeAspect="1"/>
          </p:cNvPicPr>
          <p:nvPr/>
        </p:nvPicPr>
        <p:blipFill>
          <a:blip r:embed="rId3"/>
          <a:stretch>
            <a:fillRect/>
          </a:stretch>
        </p:blipFill>
        <p:spPr>
          <a:xfrm>
            <a:off x="548640" y="1994879"/>
            <a:ext cx="6263640" cy="3371162"/>
          </a:xfrm>
          <a:prstGeom prst="rect">
            <a:avLst/>
          </a:prstGeom>
        </p:spPr>
      </p:pic>
      <p:sp>
        <p:nvSpPr>
          <p:cNvPr id="8" name="Rectangle 7"/>
          <p:cNvSpPr/>
          <p:nvPr/>
        </p:nvSpPr>
        <p:spPr>
          <a:xfrm>
            <a:off x="50292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E8743B"/>
                </a:solidFill>
                <a:latin typeface="Calibri"/>
              </a:rPr>
              <a:t>4.7%</a:t>
            </a:r>
          </a:p>
        </p:txBody>
      </p:sp>
      <p:sp>
        <p:nvSpPr>
          <p:cNvPr id="10" name="TextBox 9"/>
          <p:cNvSpPr txBox="1"/>
          <p:nvPr/>
        </p:nvSpPr>
        <p:spPr>
          <a:xfrm>
            <a:off x="50292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bundle cancellation rate</a:t>
            </a:r>
          </a:p>
        </p:txBody>
      </p:sp>
      <p:sp>
        <p:nvSpPr>
          <p:cNvPr id="11" name="Rectangle 10"/>
          <p:cNvSpPr/>
          <p:nvPr/>
        </p:nvSpPr>
        <p:spPr>
          <a:xfrm>
            <a:off x="269748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3D6FB4"/>
                </a:solidFill>
                <a:latin typeface="Calibri"/>
              </a:rPr>
              <a:t>~0%</a:t>
            </a:r>
          </a:p>
        </p:txBody>
      </p:sp>
      <p:sp>
        <p:nvSpPr>
          <p:cNvPr id="13" name="TextBox 12"/>
          <p:cNvSpPr txBox="1"/>
          <p:nvPr/>
        </p:nvSpPr>
        <p:spPr>
          <a:xfrm>
            <a:off x="269748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flight- / hotel-only</a:t>
            </a:r>
          </a:p>
        </p:txBody>
      </p:sp>
      <p:sp>
        <p:nvSpPr>
          <p:cNvPr id="14" name="Rectangle 13"/>
          <p:cNvSpPr/>
          <p:nvPr/>
        </p:nvSpPr>
        <p:spPr>
          <a:xfrm>
            <a:off x="489204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9204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6B7685"/>
                </a:solidFill>
                <a:latin typeface="Calibri"/>
              </a:rPr>
              <a:t>25.9%</a:t>
            </a:r>
          </a:p>
        </p:txBody>
      </p:sp>
      <p:sp>
        <p:nvSpPr>
          <p:cNvPr id="16" name="TextBox 15"/>
          <p:cNvSpPr txBox="1"/>
          <p:nvPr/>
        </p:nvSpPr>
        <p:spPr>
          <a:xfrm>
            <a:off x="489204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of sessions are bundles</a:t>
            </a:r>
          </a:p>
        </p:txBody>
      </p:sp>
      <p:sp>
        <p:nvSpPr>
          <p:cNvPr id="17" name="TextBox 16"/>
          <p:cNvSpPr txBox="1"/>
          <p:nvPr/>
        </p:nvSpPr>
        <p:spPr>
          <a:xfrm>
            <a:off x="7178040" y="1481328"/>
            <a:ext cx="461772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WHAT THE DATA SHOWS</a:t>
            </a:r>
          </a:p>
        </p:txBody>
      </p:sp>
      <p:sp>
        <p:nvSpPr>
          <p:cNvPr id="18" name="Rectangle 17"/>
          <p:cNvSpPr/>
          <p:nvPr/>
        </p:nvSpPr>
        <p:spPr>
          <a:xfrm>
            <a:off x="7178040" y="1810512"/>
            <a:ext cx="502920" cy="41148"/>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78040" y="1938528"/>
            <a:ext cx="4617720" cy="2103120"/>
          </a:xfrm>
          <a:prstGeom prst="rect">
            <a:avLst/>
          </a:prstGeom>
          <a:noFill/>
        </p:spPr>
        <p:txBody>
          <a:bodyPr wrap="square" lIns="45720" tIns="0" rIns="45720">
            <a:spAutoFit/>
          </a:bodyPr>
          <a:lstStyle/>
          <a:p>
            <a:pPr>
              <a:lnSpc>
                <a:spcPct val="105000"/>
              </a:lnSpc>
              <a:spcBef>
                <a:spcPts val="0"/>
              </a:spcBef>
              <a:spcAft>
                <a:spcPts val="700"/>
              </a:spcAft>
            </a:pPr>
            <a:r>
              <a:rPr sz="1350" b="1">
                <a:solidFill>
                  <a:srgbClr val="C44536"/>
                </a:solidFill>
                <a:latin typeface="Calibri"/>
              </a:rPr>
              <a:t>▪  </a:t>
            </a:r>
            <a:r>
              <a:rPr sz="1350" b="0">
                <a:solidFill>
                  <a:srgbClr val="22303F"/>
                </a:solidFill>
                <a:latin typeface="Calibri"/>
              </a:rPr>
              <a:t>Using the engineered completed_booking / cancellation flags, bundle bookings cancel at 4.7% — flight-only and hotel-only are essentially 0%.</a:t>
            </a:r>
          </a:p>
          <a:p>
            <a:pPr>
              <a:lnSpc>
                <a:spcPct val="105000"/>
              </a:lnSpc>
              <a:spcBef>
                <a:spcPts val="0"/>
              </a:spcBef>
              <a:spcAft>
                <a:spcPts val="700"/>
              </a:spcAft>
            </a:pPr>
            <a:r>
              <a:rPr sz="1350" b="1">
                <a:solidFill>
                  <a:srgbClr val="C44536"/>
                </a:solidFill>
                <a:latin typeface="Calibri"/>
              </a:rPr>
              <a:t>▪  </a:t>
            </a:r>
            <a:r>
              <a:rPr sz="1350" b="1">
                <a:solidFill>
                  <a:srgbClr val="22303F"/>
                </a:solidFill>
                <a:latin typeface="Calibri"/>
              </a:rPr>
              <a:t>Cancellation is not spread across booking types; it is concentrated in exactly the high-value bundle we most want to grow.</a:t>
            </a:r>
          </a:p>
          <a:p>
            <a:pPr>
              <a:lnSpc>
                <a:spcPct val="105000"/>
              </a:lnSpc>
              <a:spcBef>
                <a:spcPts val="0"/>
              </a:spcBef>
              <a:spcAft>
                <a:spcPts val="700"/>
              </a:spcAft>
            </a:pPr>
            <a:r>
              <a:rPr sz="1350" b="1">
                <a:solidFill>
                  <a:srgbClr val="C44536"/>
                </a:solidFill>
                <a:latin typeface="Calibri"/>
              </a:rPr>
              <a:t>▪  </a:t>
            </a:r>
            <a:r>
              <a:rPr sz="1350" b="0">
                <a:solidFill>
                  <a:srgbClr val="22303F"/>
                </a:solidFill>
                <a:latin typeface="Calibri"/>
              </a:rPr>
              <a:t>So the same basket that drives the most revenue (Insight 1) also carries the most reversal risk.</a:t>
            </a:r>
          </a:p>
        </p:txBody>
      </p:sp>
      <p:sp>
        <p:nvSpPr>
          <p:cNvPr id="20" name="Rectangle 19"/>
          <p:cNvSpPr/>
          <p:nvPr/>
        </p:nvSpPr>
        <p:spPr>
          <a:xfrm>
            <a:off x="7178040" y="4160520"/>
            <a:ext cx="4617720" cy="21488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60920" y="4297680"/>
            <a:ext cx="429768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C44536"/>
                </a:solidFill>
                <a:latin typeface="Calibri"/>
              </a:rPr>
              <a:t>WHAT IT MEANS</a:t>
            </a:r>
          </a:p>
        </p:txBody>
      </p:sp>
      <p:sp>
        <p:nvSpPr>
          <p:cNvPr id="22" name="Rectangle 21"/>
          <p:cNvSpPr/>
          <p:nvPr/>
        </p:nvSpPr>
        <p:spPr>
          <a:xfrm>
            <a:off x="7360920" y="4626864"/>
            <a:ext cx="502920" cy="41148"/>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20" y="4754880"/>
            <a:ext cx="4251960" cy="1463040"/>
          </a:xfrm>
          <a:prstGeom prst="rect">
            <a:avLst/>
          </a:prstGeom>
          <a:noFill/>
        </p:spPr>
        <p:txBody>
          <a:bodyPr wrap="square" lIns="45720" tIns="0" rIns="45720">
            <a:spAutoFit/>
          </a:bodyPr>
          <a:lstStyle/>
          <a:p>
            <a:pPr>
              <a:lnSpc>
                <a:spcPct val="105000"/>
              </a:lnSpc>
              <a:spcBef>
                <a:spcPts val="0"/>
              </a:spcBef>
              <a:spcAft>
                <a:spcPts val="600"/>
              </a:spcAft>
            </a:pPr>
            <a:r>
              <a:rPr sz="1250" b="1">
                <a:solidFill>
                  <a:srgbClr val="C44536"/>
                </a:solidFill>
                <a:latin typeface="Calibri"/>
              </a:rPr>
              <a:t>▪  </a:t>
            </a:r>
            <a:r>
              <a:rPr sz="1250" b="0">
                <a:solidFill>
                  <a:srgbClr val="22303F"/>
                </a:solidFill>
                <a:latin typeface="Calibri"/>
              </a:rPr>
              <a:t>Tie the best perks to completed (non-cancelled) trips, so we reward realised revenue, not speculative bookings.</a:t>
            </a:r>
          </a:p>
          <a:p>
            <a:pPr>
              <a:lnSpc>
                <a:spcPct val="105000"/>
              </a:lnSpc>
              <a:spcBef>
                <a:spcPts val="0"/>
              </a:spcBef>
              <a:spcAft>
                <a:spcPts val="600"/>
              </a:spcAft>
            </a:pPr>
            <a:r>
              <a:rPr sz="1250" b="1">
                <a:solidFill>
                  <a:srgbClr val="C44536"/>
                </a:solidFill>
                <a:latin typeface="Calibri"/>
              </a:rPr>
              <a:t>▪  </a:t>
            </a:r>
            <a:r>
              <a:rPr sz="1250" b="0">
                <a:solidFill>
                  <a:srgbClr val="22303F"/>
                </a:solidFill>
                <a:latin typeface="Calibri"/>
              </a:rPr>
              <a:t>When we push bundles, pair them with cancellation safeguards (flexible-change framing) rather than raw discounts.</a:t>
            </a:r>
          </a:p>
          <a:p>
            <a:pPr>
              <a:lnSpc>
                <a:spcPct val="105000"/>
              </a:lnSpc>
              <a:spcBef>
                <a:spcPts val="0"/>
              </a:spcBef>
              <a:spcAft>
                <a:spcPts val="600"/>
              </a:spcAft>
            </a:pPr>
            <a:r>
              <a:rPr sz="1250" b="1">
                <a:solidFill>
                  <a:srgbClr val="C44536"/>
                </a:solidFill>
                <a:latin typeface="Calibri"/>
              </a:rPr>
              <a:t>▪  </a:t>
            </a:r>
            <a:r>
              <a:rPr sz="1250" b="0">
                <a:solidFill>
                  <a:srgbClr val="22303F"/>
                </a:solidFill>
                <a:latin typeface="Calibri"/>
              </a:rPr>
              <a:t>Forecast realised — not gross — bundle revenue; gross bookings overstate it by the cancellation share.</a:t>
            </a:r>
          </a:p>
        </p:txBody>
      </p:sp>
      <p:sp>
        <p:nvSpPr>
          <p:cNvPr id="25" name="TextBox 24"/>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10</a:t>
            </a:r>
            <a:endParaRPr sz="900" b="0" i="0" dirty="0">
              <a:solidFill>
                <a:srgbClr val="8A94A6"/>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192360"/>
          </a:xfrm>
          <a:prstGeom prst="rect">
            <a:avLst/>
          </a:prstGeom>
          <a:noFill/>
        </p:spPr>
        <p:txBody>
          <a:bodyPr wrap="square" lIns="45720" tIns="0" rIns="45720" bIns="0" anchor="t">
            <a:spAutoFit/>
          </a:bodyPr>
          <a:lstStyle/>
          <a:p>
            <a:pPr>
              <a:spcAft>
                <a:spcPts val="400"/>
              </a:spcAft>
            </a:pPr>
            <a:r>
              <a:rPr sz="1250" b="1" i="0" dirty="0">
                <a:solidFill>
                  <a:srgbClr val="E9B949"/>
                </a:solidFill>
                <a:latin typeface="Calibri"/>
              </a:rPr>
              <a:t>VIEW 2 · </a:t>
            </a:r>
            <a:r>
              <a:rPr lang="en-US" sz="1250" b="1" i="0" dirty="0">
                <a:solidFill>
                  <a:srgbClr val="E9B949"/>
                </a:solidFill>
                <a:latin typeface="Calibri"/>
              </a:rPr>
              <a:t>USER</a:t>
            </a:r>
            <a:r>
              <a:rPr lang="en-US" sz="1250" b="1" dirty="0">
                <a:solidFill>
                  <a:srgbClr val="E9B949"/>
                </a:solidFill>
              </a:rPr>
              <a:t>-LEVEL DATA</a:t>
            </a:r>
            <a:endParaRPr sz="1250" b="1" i="0" dirty="0">
              <a:solidFill>
                <a:srgbClr val="E9B949"/>
              </a:solidFill>
              <a:latin typeface="Calibri"/>
            </a:endParaRP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Roll sessions up to the customer — the unit we cluster</a:t>
            </a:r>
          </a:p>
        </p:txBody>
      </p:sp>
      <p:sp>
        <p:nvSpPr>
          <p:cNvPr id="6" name="Rectangle 5"/>
          <p:cNvSpPr/>
          <p:nvPr/>
        </p:nvSpPr>
        <p:spPr>
          <a:xfrm>
            <a:off x="640080" y="1554480"/>
            <a:ext cx="3383280" cy="12344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27632"/>
            <a:ext cx="3383280"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000" b="1" i="0">
                <a:solidFill>
                  <a:srgbClr val="2A9D8F"/>
                </a:solidFill>
                <a:latin typeface="Calibri"/>
              </a:rPr>
              <a:t>5,746</a:t>
            </a:r>
          </a:p>
        </p:txBody>
      </p:sp>
      <p:sp>
        <p:nvSpPr>
          <p:cNvPr id="8" name="TextBox 7"/>
          <p:cNvSpPr txBox="1"/>
          <p:nvPr/>
        </p:nvSpPr>
        <p:spPr>
          <a:xfrm>
            <a:off x="640080" y="2286000"/>
            <a:ext cx="3383280" cy="36576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customers (one row each)</a:t>
            </a:r>
          </a:p>
        </p:txBody>
      </p:sp>
      <p:sp>
        <p:nvSpPr>
          <p:cNvPr id="9" name="Rectangle 8"/>
          <p:cNvSpPr/>
          <p:nvPr/>
        </p:nvSpPr>
        <p:spPr>
          <a:xfrm>
            <a:off x="4206240" y="1554480"/>
            <a:ext cx="3383280" cy="12344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0" y="1627632"/>
            <a:ext cx="3383280"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000" b="1" i="0">
                <a:solidFill>
                  <a:srgbClr val="3D6FB4"/>
                </a:solidFill>
                <a:latin typeface="Calibri"/>
              </a:rPr>
              <a:t>57</a:t>
            </a:r>
          </a:p>
        </p:txBody>
      </p:sp>
      <p:sp>
        <p:nvSpPr>
          <p:cNvPr id="11" name="TextBox 10"/>
          <p:cNvSpPr txBox="1"/>
          <p:nvPr/>
        </p:nvSpPr>
        <p:spPr>
          <a:xfrm>
            <a:off x="4206240" y="2286000"/>
            <a:ext cx="3383280" cy="36576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candidate features built</a:t>
            </a:r>
          </a:p>
        </p:txBody>
      </p:sp>
      <p:sp>
        <p:nvSpPr>
          <p:cNvPr id="12" name="Rectangle 11"/>
          <p:cNvSpPr/>
          <p:nvPr/>
        </p:nvSpPr>
        <p:spPr>
          <a:xfrm>
            <a:off x="7772400" y="1554480"/>
            <a:ext cx="3749039" cy="12344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0" y="1627632"/>
            <a:ext cx="3749039" cy="457200"/>
          </a:xfrm>
          <a:prstGeom prst="rect">
            <a:avLst/>
          </a:prstGeom>
          <a:noFill/>
        </p:spPr>
        <p:txBody>
          <a:bodyPr wrap="square" lIns="45720" tIns="0" rIns="45720" bIns="0" anchor="t">
            <a:spAutoFit/>
          </a:bodyPr>
          <a:lstStyle/>
          <a:p>
            <a:pPr algn="ctr">
              <a:lnSpc>
                <a:spcPct val="100000"/>
              </a:lnSpc>
              <a:spcBef>
                <a:spcPts val="0"/>
              </a:spcBef>
              <a:spcAft>
                <a:spcPts val="400"/>
              </a:spcAft>
            </a:pPr>
            <a:r>
              <a:rPr sz="3000" b="1" i="0">
                <a:solidFill>
                  <a:srgbClr val="E8743B"/>
                </a:solidFill>
                <a:latin typeface="Calibri"/>
              </a:rPr>
              <a:t>6 groups</a:t>
            </a:r>
          </a:p>
        </p:txBody>
      </p:sp>
      <p:sp>
        <p:nvSpPr>
          <p:cNvPr id="14" name="TextBox 13"/>
          <p:cNvSpPr txBox="1"/>
          <p:nvPr/>
        </p:nvSpPr>
        <p:spPr>
          <a:xfrm>
            <a:off x="7772400" y="2286000"/>
            <a:ext cx="3749039" cy="365760"/>
          </a:xfrm>
          <a:prstGeom prst="rect">
            <a:avLst/>
          </a:prstGeom>
          <a:noFill/>
        </p:spPr>
        <p:txBody>
          <a:bodyPr wrap="square" lIns="45720" tIns="0" rIns="45720" bIns="0" anchor="t">
            <a:spAutoFit/>
          </a:bodyPr>
          <a:lstStyle/>
          <a:p>
            <a:pPr algn="ctr">
              <a:lnSpc>
                <a:spcPct val="100000"/>
              </a:lnSpc>
              <a:spcBef>
                <a:spcPts val="0"/>
              </a:spcBef>
              <a:spcAft>
                <a:spcPts val="400"/>
              </a:spcAft>
            </a:pPr>
            <a:r>
              <a:rPr sz="1300" b="0" i="0">
                <a:solidFill>
                  <a:srgbClr val="22303F"/>
                </a:solidFill>
                <a:latin typeface="Calibri"/>
              </a:rPr>
              <a:t>of behaviour summarised per user</a:t>
            </a:r>
          </a:p>
        </p:txBody>
      </p:sp>
      <p:sp>
        <p:nvSpPr>
          <p:cNvPr id="15" name="TextBox 14"/>
          <p:cNvSpPr txBox="1"/>
          <p:nvPr/>
        </p:nvSpPr>
        <p:spPr>
          <a:xfrm>
            <a:off x="640080" y="3063240"/>
            <a:ext cx="10881360" cy="3108960"/>
          </a:xfrm>
          <a:prstGeom prst="rect">
            <a:avLst/>
          </a:prstGeom>
          <a:noFill/>
        </p:spPr>
        <p:txBody>
          <a:bodyPr wrap="square" lIns="45720" tIns="0" rIns="45720">
            <a:spAutoFit/>
          </a:bodyPr>
          <a:lstStyle/>
          <a:p>
            <a:pPr>
              <a:lnSpc>
                <a:spcPct val="105000"/>
              </a:lnSpc>
              <a:spcBef>
                <a:spcPts val="0"/>
              </a:spcBef>
              <a:spcAft>
                <a:spcPts val="1100"/>
              </a:spcAft>
            </a:pPr>
            <a:r>
              <a:rPr sz="1400" b="1">
                <a:solidFill>
                  <a:srgbClr val="E8743B"/>
                </a:solidFill>
                <a:latin typeface="Calibri"/>
              </a:rPr>
              <a:t>▪  </a:t>
            </a:r>
            <a:r>
              <a:rPr sz="1400" b="0">
                <a:solidFill>
                  <a:srgbClr val="22303F"/>
                </a:solidFill>
                <a:latin typeface="Calibri"/>
              </a:rPr>
              <a:t>Each customer's sessions are aggregated into rates, averages and totals — booking propensity, price sensitivity, trip profile, engagement, lead time, spend, plus tenure, recency and age.</a:t>
            </a:r>
          </a:p>
          <a:p>
            <a:pPr>
              <a:lnSpc>
                <a:spcPct val="105000"/>
              </a:lnSpc>
              <a:spcBef>
                <a:spcPts val="0"/>
              </a:spcBef>
              <a:spcAft>
                <a:spcPts val="1100"/>
              </a:spcAft>
            </a:pPr>
            <a:r>
              <a:rPr sz="1400" b="1">
                <a:solidFill>
                  <a:srgbClr val="E8743B"/>
                </a:solidFill>
                <a:latin typeface="Calibri"/>
              </a:rPr>
              <a:t>▪  </a:t>
            </a:r>
            <a:r>
              <a:rPr sz="1400" b="0">
                <a:solidFill>
                  <a:srgbClr val="22303F"/>
                </a:solidFill>
                <a:latin typeface="Calibri"/>
              </a:rPr>
              <a:t>Rates over counts: e.g. cancellation_rate (comparable across users) instead of cancellation_sum (biased by how often someone visits).</a:t>
            </a:r>
          </a:p>
          <a:p>
            <a:pPr>
              <a:lnSpc>
                <a:spcPct val="105000"/>
              </a:lnSpc>
              <a:spcBef>
                <a:spcPts val="0"/>
              </a:spcBef>
              <a:spcAft>
                <a:spcPts val="1100"/>
              </a:spcAft>
            </a:pPr>
            <a:r>
              <a:rPr sz="1400" b="1">
                <a:solidFill>
                  <a:srgbClr val="E8743B"/>
                </a:solidFill>
                <a:latin typeface="Calibri"/>
              </a:rPr>
              <a:t>▪  </a:t>
            </a:r>
            <a:r>
              <a:rPr sz="1400" b="0">
                <a:solidFill>
                  <a:srgbClr val="22303F"/>
                </a:solidFill>
                <a:latin typeface="Calibri"/>
              </a:rPr>
              <a:t>Aggregation naturally handles the structural blanks — a non-flyer simply contributes zero flights, which is the truth about them.</a:t>
            </a:r>
          </a:p>
          <a:p>
            <a:pPr>
              <a:lnSpc>
                <a:spcPct val="105000"/>
              </a:lnSpc>
              <a:spcBef>
                <a:spcPts val="0"/>
              </a:spcBef>
              <a:spcAft>
                <a:spcPts val="1100"/>
              </a:spcAft>
            </a:pPr>
            <a:r>
              <a:rPr sz="1400" b="1">
                <a:solidFill>
                  <a:srgbClr val="E8743B"/>
                </a:solidFill>
                <a:latin typeface="Calibri"/>
              </a:rPr>
              <a:t>▪  </a:t>
            </a:r>
            <a:r>
              <a:rPr sz="1400" b="1">
                <a:solidFill>
                  <a:srgbClr val="22303F"/>
                </a:solidFill>
                <a:latin typeface="Calibri"/>
              </a:rPr>
              <a:t>This customer-level table is the input to clustering — we group people, not visits.</a:t>
            </a:r>
          </a:p>
        </p:txBody>
      </p:sp>
      <p:sp>
        <p:nvSpPr>
          <p:cNvPr id="16" name="TextBox 15"/>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17" name="TextBox 16"/>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11</a:t>
            </a:r>
            <a:endParaRPr sz="900" b="0" i="0" dirty="0">
              <a:solidFill>
                <a:srgbClr val="8A94A6"/>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FEATURE ENGINEERING · USERS</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From 57 candidates to 19 that actually separate people</a:t>
            </a:r>
          </a:p>
        </p:txBody>
      </p:sp>
      <p:sp>
        <p:nvSpPr>
          <p:cNvPr id="6" name="Rectangle 5"/>
          <p:cNvSpPr/>
          <p:nvPr/>
        </p:nvSpPr>
        <p:spPr>
          <a:xfrm>
            <a:off x="640080" y="1572768"/>
            <a:ext cx="2679192" cy="32004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72768"/>
            <a:ext cx="2679192" cy="56692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572768"/>
            <a:ext cx="2587752" cy="566928"/>
          </a:xfrm>
          <a:prstGeom prst="rect">
            <a:avLst/>
          </a:prstGeom>
          <a:noFill/>
        </p:spPr>
        <p:txBody>
          <a:bodyPr wrap="square" lIns="45720" tIns="0" rIns="45720" bIns="0" anchor="ctr">
            <a:spAutoFit/>
          </a:bodyPr>
          <a:lstStyle/>
          <a:p>
            <a:pPr algn="ctr">
              <a:lnSpc>
                <a:spcPct val="100000"/>
              </a:lnSpc>
              <a:spcBef>
                <a:spcPts val="0"/>
              </a:spcBef>
              <a:spcAft>
                <a:spcPts val="400"/>
              </a:spcAft>
            </a:pPr>
            <a:r>
              <a:rPr sz="1250" b="1" i="0">
                <a:solidFill>
                  <a:srgbClr val="FFFFFF"/>
                </a:solidFill>
                <a:latin typeface="Calibri"/>
              </a:rPr>
              <a:t>Booking behaviour</a:t>
            </a:r>
          </a:p>
        </p:txBody>
      </p:sp>
      <p:sp>
        <p:nvSpPr>
          <p:cNvPr id="9" name="TextBox 8"/>
          <p:cNvSpPr txBox="1"/>
          <p:nvPr/>
        </p:nvSpPr>
        <p:spPr>
          <a:xfrm>
            <a:off x="731519" y="2249424"/>
            <a:ext cx="2514600" cy="2468880"/>
          </a:xfrm>
          <a:prstGeom prst="rect">
            <a:avLst/>
          </a:prstGeom>
          <a:noFill/>
        </p:spPr>
        <p:txBody>
          <a:bodyPr wrap="square" lIns="45720" tIns="0" rIns="45720">
            <a:spAutoFit/>
          </a:bodyPr>
          <a:lstStyle/>
          <a:p>
            <a:pPr>
              <a:lnSpc>
                <a:spcPct val="105000"/>
              </a:lnSpc>
              <a:spcBef>
                <a:spcPts val="0"/>
              </a:spcBef>
              <a:spcAft>
                <a:spcPts val="500"/>
              </a:spcAft>
            </a:pPr>
            <a:r>
              <a:rPr sz="1050" b="1">
                <a:solidFill>
                  <a:srgbClr val="E8743B"/>
                </a:solidFill>
                <a:latin typeface="Calibri"/>
              </a:rPr>
              <a:t>▪  </a:t>
            </a:r>
            <a:r>
              <a:rPr sz="1050" b="0">
                <a:solidFill>
                  <a:srgbClr val="22303F"/>
                </a:solidFill>
                <a:latin typeface="Calibri"/>
              </a:rPr>
              <a:t>any_booking_rate</a:t>
            </a:r>
          </a:p>
          <a:p>
            <a:pPr>
              <a:lnSpc>
                <a:spcPct val="105000"/>
              </a:lnSpc>
              <a:spcBef>
                <a:spcPts val="0"/>
              </a:spcBef>
              <a:spcAft>
                <a:spcPts val="500"/>
              </a:spcAft>
            </a:pPr>
            <a:r>
              <a:rPr sz="1050" b="1">
                <a:solidFill>
                  <a:srgbClr val="E8743B"/>
                </a:solidFill>
                <a:latin typeface="Calibri"/>
              </a:rPr>
              <a:t>▪  </a:t>
            </a:r>
            <a:r>
              <a:rPr sz="1050" b="0">
                <a:solidFill>
                  <a:srgbClr val="22303F"/>
                </a:solidFill>
                <a:latin typeface="Calibri"/>
              </a:rPr>
              <a:t>bundle_booking_rate</a:t>
            </a:r>
          </a:p>
          <a:p>
            <a:pPr>
              <a:lnSpc>
                <a:spcPct val="105000"/>
              </a:lnSpc>
              <a:spcBef>
                <a:spcPts val="0"/>
              </a:spcBef>
              <a:spcAft>
                <a:spcPts val="500"/>
              </a:spcAft>
            </a:pPr>
            <a:r>
              <a:rPr sz="1050" b="1">
                <a:solidFill>
                  <a:srgbClr val="E8743B"/>
                </a:solidFill>
                <a:latin typeface="Calibri"/>
              </a:rPr>
              <a:t>▪  </a:t>
            </a:r>
            <a:r>
              <a:rPr sz="1050" b="0">
                <a:solidFill>
                  <a:srgbClr val="22303F"/>
                </a:solidFill>
                <a:latin typeface="Calibri"/>
              </a:rPr>
              <a:t>cancellation_rate</a:t>
            </a:r>
          </a:p>
        </p:txBody>
      </p:sp>
      <p:sp>
        <p:nvSpPr>
          <p:cNvPr id="10" name="Rectangle 9"/>
          <p:cNvSpPr/>
          <p:nvPr/>
        </p:nvSpPr>
        <p:spPr>
          <a:xfrm>
            <a:off x="3429000" y="1572768"/>
            <a:ext cx="2679192" cy="32004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572768"/>
            <a:ext cx="2679192"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1572768"/>
            <a:ext cx="2587752" cy="566928"/>
          </a:xfrm>
          <a:prstGeom prst="rect">
            <a:avLst/>
          </a:prstGeom>
          <a:noFill/>
        </p:spPr>
        <p:txBody>
          <a:bodyPr wrap="square" lIns="45720" tIns="0" rIns="45720" bIns="0" anchor="ctr">
            <a:spAutoFit/>
          </a:bodyPr>
          <a:lstStyle/>
          <a:p>
            <a:pPr algn="ctr">
              <a:lnSpc>
                <a:spcPct val="100000"/>
              </a:lnSpc>
              <a:spcBef>
                <a:spcPts val="0"/>
              </a:spcBef>
              <a:spcAft>
                <a:spcPts val="400"/>
              </a:spcAft>
            </a:pPr>
            <a:r>
              <a:rPr sz="1250" b="1" i="0">
                <a:solidFill>
                  <a:srgbClr val="FFFFFF"/>
                </a:solidFill>
                <a:latin typeface="Calibri"/>
              </a:rPr>
              <a:t>Price &amp; spend</a:t>
            </a:r>
          </a:p>
        </p:txBody>
      </p:sp>
      <p:sp>
        <p:nvSpPr>
          <p:cNvPr id="13" name="TextBox 12"/>
          <p:cNvSpPr txBox="1"/>
          <p:nvPr/>
        </p:nvSpPr>
        <p:spPr>
          <a:xfrm>
            <a:off x="3520440" y="2249424"/>
            <a:ext cx="2514600" cy="2468880"/>
          </a:xfrm>
          <a:prstGeom prst="rect">
            <a:avLst/>
          </a:prstGeom>
          <a:noFill/>
        </p:spPr>
        <p:txBody>
          <a:bodyPr wrap="square" lIns="45720" tIns="0" rIns="45720">
            <a:spAutoFit/>
          </a:bodyPr>
          <a:lstStyle/>
          <a:p>
            <a:pPr>
              <a:lnSpc>
                <a:spcPct val="105000"/>
              </a:lnSpc>
              <a:spcBef>
                <a:spcPts val="0"/>
              </a:spcBef>
              <a:spcAft>
                <a:spcPts val="500"/>
              </a:spcAft>
            </a:pPr>
            <a:r>
              <a:rPr sz="1050" b="1">
                <a:solidFill>
                  <a:srgbClr val="2A9D8F"/>
                </a:solidFill>
                <a:latin typeface="Calibri"/>
              </a:rPr>
              <a:t>▪  </a:t>
            </a:r>
            <a:r>
              <a:rPr sz="1050" b="0">
                <a:solidFill>
                  <a:srgbClr val="22303F"/>
                </a:solidFill>
                <a:latin typeface="Calibri"/>
              </a:rPr>
              <a:t>avg_fare_completed</a:t>
            </a:r>
          </a:p>
          <a:p>
            <a:pPr>
              <a:lnSpc>
                <a:spcPct val="105000"/>
              </a:lnSpc>
              <a:spcBef>
                <a:spcPts val="0"/>
              </a:spcBef>
              <a:spcAft>
                <a:spcPts val="500"/>
              </a:spcAft>
            </a:pPr>
            <a:r>
              <a:rPr sz="1050" b="1">
                <a:solidFill>
                  <a:srgbClr val="2A9D8F"/>
                </a:solidFill>
                <a:latin typeface="Calibri"/>
              </a:rPr>
              <a:t>▪  </a:t>
            </a:r>
            <a:r>
              <a:rPr sz="1050" b="0">
                <a:solidFill>
                  <a:srgbClr val="22303F"/>
                </a:solidFill>
                <a:latin typeface="Calibri"/>
              </a:rPr>
              <a:t>avg_hotel_rate_completed</a:t>
            </a:r>
          </a:p>
          <a:p>
            <a:pPr>
              <a:lnSpc>
                <a:spcPct val="105000"/>
              </a:lnSpc>
              <a:spcBef>
                <a:spcPts val="0"/>
              </a:spcBef>
              <a:spcAft>
                <a:spcPts val="500"/>
              </a:spcAft>
            </a:pPr>
            <a:r>
              <a:rPr sz="1050" b="1">
                <a:solidFill>
                  <a:srgbClr val="2A9D8F"/>
                </a:solidFill>
                <a:latin typeface="Calibri"/>
              </a:rPr>
              <a:t>▪  </a:t>
            </a:r>
            <a:r>
              <a:rPr sz="1050" b="0">
                <a:solidFill>
                  <a:srgbClr val="22303F"/>
                </a:solidFill>
                <a:latin typeface="Calibri"/>
              </a:rPr>
              <a:t>total_spend</a:t>
            </a:r>
          </a:p>
          <a:p>
            <a:pPr>
              <a:lnSpc>
                <a:spcPct val="105000"/>
              </a:lnSpc>
              <a:spcBef>
                <a:spcPts val="0"/>
              </a:spcBef>
              <a:spcAft>
                <a:spcPts val="500"/>
              </a:spcAft>
            </a:pPr>
            <a:r>
              <a:rPr sz="1050" b="1">
                <a:solidFill>
                  <a:srgbClr val="2A9D8F"/>
                </a:solidFill>
                <a:latin typeface="Calibri"/>
              </a:rPr>
              <a:t>▪  </a:t>
            </a:r>
            <a:r>
              <a:rPr sz="1050" b="0">
                <a:solidFill>
                  <a:srgbClr val="22303F"/>
                </a:solidFill>
                <a:latin typeface="Calibri"/>
              </a:rPr>
              <a:t>flight_discount_rate</a:t>
            </a:r>
          </a:p>
          <a:p>
            <a:pPr>
              <a:lnSpc>
                <a:spcPct val="105000"/>
              </a:lnSpc>
              <a:spcBef>
                <a:spcPts val="0"/>
              </a:spcBef>
              <a:spcAft>
                <a:spcPts val="500"/>
              </a:spcAft>
            </a:pPr>
            <a:r>
              <a:rPr sz="1050" b="1">
                <a:solidFill>
                  <a:srgbClr val="2A9D8F"/>
                </a:solidFill>
                <a:latin typeface="Calibri"/>
              </a:rPr>
              <a:t>▪  </a:t>
            </a:r>
            <a:r>
              <a:rPr sz="1050" b="0">
                <a:solidFill>
                  <a:srgbClr val="22303F"/>
                </a:solidFill>
                <a:latin typeface="Calibri"/>
              </a:rPr>
              <a:t>avg_discount_savings_pct</a:t>
            </a:r>
          </a:p>
        </p:txBody>
      </p:sp>
      <p:sp>
        <p:nvSpPr>
          <p:cNvPr id="14" name="Rectangle 13"/>
          <p:cNvSpPr/>
          <p:nvPr/>
        </p:nvSpPr>
        <p:spPr>
          <a:xfrm>
            <a:off x="6217920" y="1572768"/>
            <a:ext cx="2679192" cy="32004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572768"/>
            <a:ext cx="2679192" cy="566928"/>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1572768"/>
            <a:ext cx="2587752" cy="566928"/>
          </a:xfrm>
          <a:prstGeom prst="rect">
            <a:avLst/>
          </a:prstGeom>
          <a:noFill/>
        </p:spPr>
        <p:txBody>
          <a:bodyPr wrap="square" lIns="45720" tIns="0" rIns="45720" bIns="0" anchor="ctr">
            <a:spAutoFit/>
          </a:bodyPr>
          <a:lstStyle/>
          <a:p>
            <a:pPr algn="ctr">
              <a:lnSpc>
                <a:spcPct val="100000"/>
              </a:lnSpc>
              <a:spcBef>
                <a:spcPts val="0"/>
              </a:spcBef>
              <a:spcAft>
                <a:spcPts val="400"/>
              </a:spcAft>
            </a:pPr>
            <a:r>
              <a:rPr sz="1250" b="1" i="0">
                <a:solidFill>
                  <a:srgbClr val="FFFFFF"/>
                </a:solidFill>
                <a:latin typeface="Calibri"/>
              </a:rPr>
              <a:t>Travel profile</a:t>
            </a:r>
          </a:p>
        </p:txBody>
      </p:sp>
      <p:sp>
        <p:nvSpPr>
          <p:cNvPr id="17" name="TextBox 16"/>
          <p:cNvSpPr txBox="1"/>
          <p:nvPr/>
        </p:nvSpPr>
        <p:spPr>
          <a:xfrm>
            <a:off x="6309360" y="2249424"/>
            <a:ext cx="2514600" cy="2468880"/>
          </a:xfrm>
          <a:prstGeom prst="rect">
            <a:avLst/>
          </a:prstGeom>
          <a:noFill/>
        </p:spPr>
        <p:txBody>
          <a:bodyPr wrap="square" lIns="45720" tIns="0" rIns="45720">
            <a:spAutoFit/>
          </a:bodyPr>
          <a:lstStyle/>
          <a:p>
            <a:pPr>
              <a:lnSpc>
                <a:spcPct val="105000"/>
              </a:lnSpc>
              <a:spcBef>
                <a:spcPts val="0"/>
              </a:spcBef>
              <a:spcAft>
                <a:spcPts val="500"/>
              </a:spcAft>
            </a:pPr>
            <a:r>
              <a:rPr sz="1050" b="1">
                <a:solidFill>
                  <a:srgbClr val="3D6FB4"/>
                </a:solidFill>
                <a:latin typeface="Calibri"/>
              </a:rPr>
              <a:t>▪  </a:t>
            </a:r>
            <a:r>
              <a:rPr sz="1050" b="0">
                <a:solidFill>
                  <a:srgbClr val="22303F"/>
                </a:solidFill>
                <a:latin typeface="Calibri"/>
              </a:rPr>
              <a:t>international_rate</a:t>
            </a:r>
          </a:p>
          <a:p>
            <a:pPr>
              <a:lnSpc>
                <a:spcPct val="105000"/>
              </a:lnSpc>
              <a:spcBef>
                <a:spcPts val="0"/>
              </a:spcBef>
              <a:spcAft>
                <a:spcPts val="500"/>
              </a:spcAft>
            </a:pPr>
            <a:r>
              <a:rPr sz="1050" b="1">
                <a:solidFill>
                  <a:srgbClr val="3D6FB4"/>
                </a:solidFill>
                <a:latin typeface="Calibri"/>
              </a:rPr>
              <a:t>▪  </a:t>
            </a:r>
            <a:r>
              <a:rPr sz="1050" b="0">
                <a:solidFill>
                  <a:srgbClr val="22303F"/>
                </a:solidFill>
                <a:latin typeface="Calibri"/>
              </a:rPr>
              <a:t>avg_lead_time_days</a:t>
            </a:r>
          </a:p>
          <a:p>
            <a:pPr>
              <a:lnSpc>
                <a:spcPct val="105000"/>
              </a:lnSpc>
              <a:spcBef>
                <a:spcPts val="0"/>
              </a:spcBef>
              <a:spcAft>
                <a:spcPts val="500"/>
              </a:spcAft>
            </a:pPr>
            <a:r>
              <a:rPr sz="1050" b="1">
                <a:solidFill>
                  <a:srgbClr val="3D6FB4"/>
                </a:solidFill>
                <a:latin typeface="Calibri"/>
              </a:rPr>
              <a:t>▪  </a:t>
            </a:r>
            <a:r>
              <a:rPr sz="1050" b="0">
                <a:solidFill>
                  <a:srgbClr val="22303F"/>
                </a:solidFill>
                <a:latin typeface="Calibri"/>
              </a:rPr>
              <a:t>return_flight_rate</a:t>
            </a:r>
          </a:p>
          <a:p>
            <a:pPr>
              <a:lnSpc>
                <a:spcPct val="105000"/>
              </a:lnSpc>
              <a:spcBef>
                <a:spcPts val="0"/>
              </a:spcBef>
              <a:spcAft>
                <a:spcPts val="500"/>
              </a:spcAft>
            </a:pPr>
            <a:r>
              <a:rPr sz="1050" b="1">
                <a:solidFill>
                  <a:srgbClr val="3D6FB4"/>
                </a:solidFill>
                <a:latin typeface="Calibri"/>
              </a:rPr>
              <a:t>▪  </a:t>
            </a:r>
            <a:r>
              <a:rPr sz="1050" b="0">
                <a:solidFill>
                  <a:srgbClr val="22303F"/>
                </a:solidFill>
                <a:latin typeface="Calibri"/>
              </a:rPr>
              <a:t>avg_nights_completed</a:t>
            </a:r>
          </a:p>
          <a:p>
            <a:pPr>
              <a:lnSpc>
                <a:spcPct val="105000"/>
              </a:lnSpc>
              <a:spcBef>
                <a:spcPts val="0"/>
              </a:spcBef>
              <a:spcAft>
                <a:spcPts val="500"/>
              </a:spcAft>
            </a:pPr>
            <a:r>
              <a:rPr sz="1050" b="1">
                <a:solidFill>
                  <a:srgbClr val="3D6FB4"/>
                </a:solidFill>
                <a:latin typeface="Calibri"/>
              </a:rPr>
              <a:t>▪  </a:t>
            </a:r>
            <a:r>
              <a:rPr sz="1050" b="0">
                <a:solidFill>
                  <a:srgbClr val="22303F"/>
                </a:solidFill>
                <a:latin typeface="Calibri"/>
              </a:rPr>
              <a:t>avg_seats</a:t>
            </a:r>
          </a:p>
          <a:p>
            <a:pPr>
              <a:lnSpc>
                <a:spcPct val="105000"/>
              </a:lnSpc>
              <a:spcBef>
                <a:spcPts val="0"/>
              </a:spcBef>
              <a:spcAft>
                <a:spcPts val="500"/>
              </a:spcAft>
            </a:pPr>
            <a:r>
              <a:rPr sz="1050" b="1">
                <a:solidFill>
                  <a:srgbClr val="3D6FB4"/>
                </a:solidFill>
                <a:latin typeface="Calibri"/>
              </a:rPr>
              <a:t>▪  </a:t>
            </a:r>
            <a:r>
              <a:rPr sz="1050" b="0">
                <a:solidFill>
                  <a:srgbClr val="22303F"/>
                </a:solidFill>
                <a:latin typeface="Calibri"/>
              </a:rPr>
              <a:t>distinct_airlines</a:t>
            </a:r>
          </a:p>
        </p:txBody>
      </p:sp>
      <p:sp>
        <p:nvSpPr>
          <p:cNvPr id="18" name="Rectangle 17"/>
          <p:cNvSpPr/>
          <p:nvPr/>
        </p:nvSpPr>
        <p:spPr>
          <a:xfrm>
            <a:off x="9006840" y="1572768"/>
            <a:ext cx="2679192" cy="320040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1572768"/>
            <a:ext cx="2679192" cy="566928"/>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52560" y="1572768"/>
            <a:ext cx="2587752" cy="566928"/>
          </a:xfrm>
          <a:prstGeom prst="rect">
            <a:avLst/>
          </a:prstGeom>
          <a:noFill/>
        </p:spPr>
        <p:txBody>
          <a:bodyPr wrap="square" lIns="45720" tIns="0" rIns="45720" bIns="0" anchor="ctr">
            <a:spAutoFit/>
          </a:bodyPr>
          <a:lstStyle/>
          <a:p>
            <a:pPr algn="ctr">
              <a:lnSpc>
                <a:spcPct val="100000"/>
              </a:lnSpc>
              <a:spcBef>
                <a:spcPts val="0"/>
              </a:spcBef>
              <a:spcAft>
                <a:spcPts val="400"/>
              </a:spcAft>
            </a:pPr>
            <a:r>
              <a:rPr sz="1250" b="1" i="0">
                <a:solidFill>
                  <a:srgbClr val="FFFFFF"/>
                </a:solidFill>
                <a:latin typeface="Calibri"/>
              </a:rPr>
              <a:t>Engagement / lifecycle / age</a:t>
            </a:r>
          </a:p>
        </p:txBody>
      </p:sp>
      <p:sp>
        <p:nvSpPr>
          <p:cNvPr id="21" name="TextBox 20"/>
          <p:cNvSpPr txBox="1"/>
          <p:nvPr/>
        </p:nvSpPr>
        <p:spPr>
          <a:xfrm>
            <a:off x="9098280" y="2249424"/>
            <a:ext cx="2514600" cy="2468880"/>
          </a:xfrm>
          <a:prstGeom prst="rect">
            <a:avLst/>
          </a:prstGeom>
          <a:noFill/>
        </p:spPr>
        <p:txBody>
          <a:bodyPr wrap="square" lIns="45720" tIns="0" rIns="45720">
            <a:spAutoFit/>
          </a:bodyPr>
          <a:lstStyle/>
          <a:p>
            <a:pPr>
              <a:lnSpc>
                <a:spcPct val="105000"/>
              </a:lnSpc>
              <a:spcBef>
                <a:spcPts val="0"/>
              </a:spcBef>
              <a:spcAft>
                <a:spcPts val="500"/>
              </a:spcAft>
            </a:pPr>
            <a:r>
              <a:rPr sz="1050" b="1">
                <a:solidFill>
                  <a:srgbClr val="E9B949"/>
                </a:solidFill>
                <a:latin typeface="Calibri"/>
              </a:rPr>
              <a:t>▪  </a:t>
            </a:r>
            <a:r>
              <a:rPr sz="1050" b="0">
                <a:solidFill>
                  <a:srgbClr val="22303F"/>
                </a:solidFill>
                <a:latin typeface="Calibri"/>
              </a:rPr>
              <a:t>avg_page_clicks</a:t>
            </a:r>
          </a:p>
          <a:p>
            <a:pPr>
              <a:lnSpc>
                <a:spcPct val="105000"/>
              </a:lnSpc>
              <a:spcBef>
                <a:spcPts val="0"/>
              </a:spcBef>
              <a:spcAft>
                <a:spcPts val="500"/>
              </a:spcAft>
            </a:pPr>
            <a:r>
              <a:rPr sz="1050" b="1">
                <a:solidFill>
                  <a:srgbClr val="E9B949"/>
                </a:solidFill>
                <a:latin typeface="Calibri"/>
              </a:rPr>
              <a:t>▪  </a:t>
            </a:r>
            <a:r>
              <a:rPr sz="1050" b="0">
                <a:solidFill>
                  <a:srgbClr val="22303F"/>
                </a:solidFill>
                <a:latin typeface="Calibri"/>
              </a:rPr>
              <a:t>avg_session_duration_min</a:t>
            </a:r>
          </a:p>
          <a:p>
            <a:pPr>
              <a:lnSpc>
                <a:spcPct val="105000"/>
              </a:lnSpc>
              <a:spcBef>
                <a:spcPts val="0"/>
              </a:spcBef>
              <a:spcAft>
                <a:spcPts val="500"/>
              </a:spcAft>
            </a:pPr>
            <a:r>
              <a:rPr sz="1050" b="1">
                <a:solidFill>
                  <a:srgbClr val="E9B949"/>
                </a:solidFill>
                <a:latin typeface="Calibri"/>
              </a:rPr>
              <a:t>▪  </a:t>
            </a:r>
            <a:r>
              <a:rPr sz="1050" b="0">
                <a:solidFill>
                  <a:srgbClr val="22303F"/>
                </a:solidFill>
                <a:latin typeface="Calibri"/>
              </a:rPr>
              <a:t>recency_days</a:t>
            </a:r>
          </a:p>
          <a:p>
            <a:pPr>
              <a:lnSpc>
                <a:spcPct val="105000"/>
              </a:lnSpc>
              <a:spcBef>
                <a:spcPts val="0"/>
              </a:spcBef>
              <a:spcAft>
                <a:spcPts val="500"/>
              </a:spcAft>
            </a:pPr>
            <a:r>
              <a:rPr sz="1050" b="1">
                <a:solidFill>
                  <a:srgbClr val="E9B949"/>
                </a:solidFill>
                <a:latin typeface="Calibri"/>
              </a:rPr>
              <a:t>▪  </a:t>
            </a:r>
            <a:r>
              <a:rPr sz="1050" b="0">
                <a:solidFill>
                  <a:srgbClr val="22303F"/>
                </a:solidFill>
                <a:latin typeface="Calibri"/>
              </a:rPr>
              <a:t>tenure_days</a:t>
            </a:r>
          </a:p>
          <a:p>
            <a:pPr>
              <a:lnSpc>
                <a:spcPct val="105000"/>
              </a:lnSpc>
              <a:spcBef>
                <a:spcPts val="0"/>
              </a:spcBef>
              <a:spcAft>
                <a:spcPts val="500"/>
              </a:spcAft>
            </a:pPr>
            <a:r>
              <a:rPr sz="1050" b="1">
                <a:solidFill>
                  <a:srgbClr val="E9B949"/>
                </a:solidFill>
                <a:latin typeface="Calibri"/>
              </a:rPr>
              <a:t>▪  </a:t>
            </a:r>
            <a:r>
              <a:rPr sz="1050" b="0">
                <a:solidFill>
                  <a:srgbClr val="22303F"/>
                </a:solidFill>
                <a:latin typeface="Calibri"/>
              </a:rPr>
              <a:t>user_age</a:t>
            </a:r>
          </a:p>
        </p:txBody>
      </p:sp>
      <p:sp>
        <p:nvSpPr>
          <p:cNvPr id="22" name="TextBox 21"/>
          <p:cNvSpPr txBox="1"/>
          <p:nvPr/>
        </p:nvSpPr>
        <p:spPr>
          <a:xfrm>
            <a:off x="640080" y="4937760"/>
            <a:ext cx="10881360" cy="1005840"/>
          </a:xfrm>
          <a:prstGeom prst="rect">
            <a:avLst/>
          </a:prstGeom>
          <a:noFill/>
        </p:spPr>
        <p:txBody>
          <a:bodyPr wrap="square" lIns="45720" tIns="0" rIns="45720" bIns="0" anchor="t">
            <a:spAutoFit/>
          </a:bodyPr>
          <a:lstStyle/>
          <a:p>
            <a:pPr algn="l">
              <a:lnSpc>
                <a:spcPct val="100000"/>
              </a:lnSpc>
              <a:spcBef>
                <a:spcPts val="0"/>
              </a:spcBef>
              <a:spcAft>
                <a:spcPts val="400"/>
              </a:spcAft>
            </a:pPr>
            <a:r>
              <a:rPr sz="1300" b="1" i="0">
                <a:solidFill>
                  <a:srgbClr val="1F3A5F"/>
                </a:solidFill>
                <a:latin typeface="Calibri"/>
              </a:rPr>
              <a:t>Selection principles: </a:t>
            </a:r>
            <a:r>
              <a:rPr sz="1250" b="0" i="0">
                <a:solidFill>
                  <a:srgbClr val="22303F"/>
                </a:solidFill>
                <a:latin typeface="Calibri"/>
              </a:rPr>
              <a:t>independence (drop near-inverses &amp; collinear pairs) · rates over counts · completed-booking versions · flight↔hotel symmetry. </a:t>
            </a:r>
            <a:r>
              <a:rPr sz="1250" b="0" i="1">
                <a:solidFill>
                  <a:srgbClr val="6B7685"/>
                </a:solidFill>
                <a:latin typeface="Calibri"/>
              </a:rPr>
              <a:t>Gender (88% female) and home country (83% USA) dropped — too skewed to split customers.</a:t>
            </a:r>
          </a:p>
        </p:txBody>
      </p:sp>
      <p:sp>
        <p:nvSpPr>
          <p:cNvPr id="23" name="TextBox 22"/>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24" name="TextBox 23"/>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dirty="0">
                <a:solidFill>
                  <a:srgbClr val="8A94A6"/>
                </a:solidFill>
                <a:latin typeface="Calibri"/>
              </a:rPr>
              <a:t>1</a:t>
            </a:r>
            <a:r>
              <a:rPr lang="en-US" sz="900" b="0" i="0" dirty="0">
                <a:solidFill>
                  <a:srgbClr val="8A94A6"/>
                </a:solidFill>
                <a:latin typeface="Calibri"/>
              </a:rPr>
              <a:t>2</a:t>
            </a:r>
            <a:endParaRPr sz="900" b="0" i="0" dirty="0">
              <a:solidFill>
                <a:srgbClr val="8A94A6"/>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91695" cy="5486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1115568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INSIGHT 1 · LOYALTY</a:t>
            </a:r>
          </a:p>
        </p:txBody>
      </p:sp>
      <p:sp>
        <p:nvSpPr>
          <p:cNvPr id="5" name="TextBox 4"/>
          <p:cNvSpPr txBox="1"/>
          <p:nvPr/>
        </p:nvSpPr>
        <p:spPr>
          <a:xfrm>
            <a:off x="502920" y="402336"/>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FFFFFF"/>
                </a:solidFill>
                <a:latin typeface="Calibri"/>
              </a:rPr>
              <a:t>Our most valuable customers are loyal to no airline</a:t>
            </a:r>
          </a:p>
        </p:txBody>
      </p:sp>
      <p:sp>
        <p:nvSpPr>
          <p:cNvPr id="6" name="Rectangle 5"/>
          <p:cNvSpPr/>
          <p:nvPr/>
        </p:nvSpPr>
        <p:spPr>
          <a:xfrm>
            <a:off x="457200" y="1417320"/>
            <a:ext cx="6446520" cy="452628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user_04_airline_loyalty.png"/>
          <p:cNvPicPr>
            <a:picLocks noChangeAspect="1"/>
          </p:cNvPicPr>
          <p:nvPr/>
        </p:nvPicPr>
        <p:blipFill>
          <a:blip r:embed="rId3"/>
          <a:stretch>
            <a:fillRect/>
          </a:stretch>
        </p:blipFill>
        <p:spPr>
          <a:xfrm>
            <a:off x="548640" y="1928132"/>
            <a:ext cx="6263640" cy="3504655"/>
          </a:xfrm>
          <a:prstGeom prst="rect">
            <a:avLst/>
          </a:prstGeom>
        </p:spPr>
      </p:pic>
      <p:sp>
        <p:nvSpPr>
          <p:cNvPr id="8" name="Rectangle 7"/>
          <p:cNvSpPr/>
          <p:nvPr/>
        </p:nvSpPr>
        <p:spPr>
          <a:xfrm>
            <a:off x="50292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6B7685"/>
                </a:solidFill>
                <a:latin typeface="Calibri"/>
              </a:rPr>
              <a:t>24%</a:t>
            </a:r>
          </a:p>
        </p:txBody>
      </p:sp>
      <p:sp>
        <p:nvSpPr>
          <p:cNvPr id="10" name="TextBox 9"/>
          <p:cNvSpPr txBox="1"/>
          <p:nvPr/>
        </p:nvSpPr>
        <p:spPr>
          <a:xfrm>
            <a:off x="50292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loyal to one airline</a:t>
            </a:r>
          </a:p>
        </p:txBody>
      </p:sp>
      <p:sp>
        <p:nvSpPr>
          <p:cNvPr id="11" name="Rectangle 10"/>
          <p:cNvSpPr/>
          <p:nvPr/>
        </p:nvSpPr>
        <p:spPr>
          <a:xfrm>
            <a:off x="269748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3D6FB4"/>
                </a:solidFill>
                <a:latin typeface="Calibri"/>
              </a:rPr>
              <a:t>76%</a:t>
            </a:r>
          </a:p>
        </p:txBody>
      </p:sp>
      <p:sp>
        <p:nvSpPr>
          <p:cNvPr id="13" name="TextBox 12"/>
          <p:cNvSpPr txBox="1"/>
          <p:nvPr/>
        </p:nvSpPr>
        <p:spPr>
          <a:xfrm>
            <a:off x="269748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shop across 2+ airlines</a:t>
            </a:r>
          </a:p>
        </p:txBody>
      </p:sp>
      <p:sp>
        <p:nvSpPr>
          <p:cNvPr id="14" name="Rectangle 13"/>
          <p:cNvSpPr/>
          <p:nvPr/>
        </p:nvSpPr>
        <p:spPr>
          <a:xfrm>
            <a:off x="489204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9204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E8743B"/>
                </a:solidFill>
                <a:latin typeface="Calibri"/>
              </a:rPr>
              <a:t>3.5×</a:t>
            </a:r>
          </a:p>
        </p:txBody>
      </p:sp>
      <p:sp>
        <p:nvSpPr>
          <p:cNvPr id="16" name="TextBox 15"/>
          <p:cNvSpPr txBox="1"/>
          <p:nvPr/>
        </p:nvSpPr>
        <p:spPr>
          <a:xfrm>
            <a:off x="489204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spend gradient by spread</a:t>
            </a:r>
          </a:p>
        </p:txBody>
      </p:sp>
      <p:sp>
        <p:nvSpPr>
          <p:cNvPr id="17" name="TextBox 16"/>
          <p:cNvSpPr txBox="1"/>
          <p:nvPr/>
        </p:nvSpPr>
        <p:spPr>
          <a:xfrm>
            <a:off x="7178040" y="1481328"/>
            <a:ext cx="461772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WHAT THE DATA SHOWS</a:t>
            </a:r>
          </a:p>
        </p:txBody>
      </p:sp>
      <p:sp>
        <p:nvSpPr>
          <p:cNvPr id="18" name="Rectangle 17"/>
          <p:cNvSpPr/>
          <p:nvPr/>
        </p:nvSpPr>
        <p:spPr>
          <a:xfrm>
            <a:off x="7178040" y="1810512"/>
            <a:ext cx="502920" cy="411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78040" y="1938528"/>
            <a:ext cx="4617720" cy="2103120"/>
          </a:xfrm>
          <a:prstGeom prst="rect">
            <a:avLst/>
          </a:prstGeom>
          <a:noFill/>
        </p:spPr>
        <p:txBody>
          <a:bodyPr wrap="square" lIns="45720" tIns="0" rIns="45720">
            <a:spAutoFit/>
          </a:bodyPr>
          <a:lstStyle/>
          <a:p>
            <a:pPr>
              <a:lnSpc>
                <a:spcPct val="105000"/>
              </a:lnSpc>
              <a:spcBef>
                <a:spcPts val="0"/>
              </a:spcBef>
              <a:spcAft>
                <a:spcPts val="700"/>
              </a:spcAft>
            </a:pPr>
            <a:r>
              <a:rPr sz="1350" b="1">
                <a:solidFill>
                  <a:srgbClr val="2A9D8F"/>
                </a:solidFill>
                <a:latin typeface="Calibri"/>
              </a:rPr>
              <a:t>▪  </a:t>
            </a:r>
            <a:r>
              <a:rPr sz="1350" b="0">
                <a:solidFill>
                  <a:srgbClr val="22303F"/>
                </a:solidFill>
                <a:latin typeface="Calibri"/>
              </a:rPr>
              <a:t>distinct_airlines — an engineered feature counting the carriers each customer actually flew — is our airline-loyalty signal.</a:t>
            </a:r>
          </a:p>
          <a:p>
            <a:pPr>
              <a:lnSpc>
                <a:spcPct val="105000"/>
              </a:lnSpc>
              <a:spcBef>
                <a:spcPts val="0"/>
              </a:spcBef>
              <a:spcAft>
                <a:spcPts val="700"/>
              </a:spcAft>
            </a:pPr>
            <a:r>
              <a:rPr sz="1350" b="1">
                <a:solidFill>
                  <a:srgbClr val="2A9D8F"/>
                </a:solidFill>
                <a:latin typeface="Calibri"/>
              </a:rPr>
              <a:t>▪  </a:t>
            </a:r>
            <a:r>
              <a:rPr sz="1350" b="0">
                <a:solidFill>
                  <a:srgbClr val="22303F"/>
                </a:solidFill>
                <a:latin typeface="Calibri"/>
              </a:rPr>
              <a:t>Only 24% of flyers stick to a single airline; 76% spread across 2+, and 44% across three or more.</a:t>
            </a:r>
          </a:p>
          <a:p>
            <a:pPr>
              <a:lnSpc>
                <a:spcPct val="105000"/>
              </a:lnSpc>
              <a:spcBef>
                <a:spcPts val="0"/>
              </a:spcBef>
              <a:spcAft>
                <a:spcPts val="700"/>
              </a:spcAft>
            </a:pPr>
            <a:r>
              <a:rPr sz="1350" b="1">
                <a:solidFill>
                  <a:srgbClr val="2A9D8F"/>
                </a:solidFill>
                <a:latin typeface="Calibri"/>
              </a:rPr>
              <a:t>▪  </a:t>
            </a:r>
            <a:r>
              <a:rPr sz="1350" b="1">
                <a:solidFill>
                  <a:srgbClr val="22303F"/>
                </a:solidFill>
                <a:latin typeface="Calibri"/>
              </a:rPr>
              <a:t>As airline-spread rises, median lifetime spend climbs $1.6k → $5.7k and booking rate rises 22% → 70%.</a:t>
            </a:r>
          </a:p>
          <a:p>
            <a:pPr>
              <a:lnSpc>
                <a:spcPct val="105000"/>
              </a:lnSpc>
              <a:spcBef>
                <a:spcPts val="0"/>
              </a:spcBef>
              <a:spcAft>
                <a:spcPts val="700"/>
              </a:spcAft>
            </a:pPr>
            <a:r>
              <a:rPr sz="1350" b="1">
                <a:solidFill>
                  <a:srgbClr val="2A9D8F"/>
                </a:solidFill>
                <a:latin typeface="Calibri"/>
              </a:rPr>
              <a:t>▪  </a:t>
            </a:r>
            <a:r>
              <a:rPr sz="1350" b="0">
                <a:solidFill>
                  <a:srgbClr val="22303F"/>
                </a:solidFill>
                <a:latin typeface="Calibri"/>
              </a:rPr>
              <a:t>So our most engaged, highest-value customers are precisely the ones with no attachment to any single carrier.</a:t>
            </a:r>
          </a:p>
        </p:txBody>
      </p:sp>
      <p:sp>
        <p:nvSpPr>
          <p:cNvPr id="20" name="Rectangle 19"/>
          <p:cNvSpPr/>
          <p:nvPr/>
        </p:nvSpPr>
        <p:spPr>
          <a:xfrm>
            <a:off x="7178040" y="4160520"/>
            <a:ext cx="4617720" cy="21488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60920" y="4297680"/>
            <a:ext cx="429768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2A9D8F"/>
                </a:solidFill>
                <a:latin typeface="Calibri"/>
              </a:rPr>
              <a:t>WHAT IT MEANS</a:t>
            </a:r>
          </a:p>
        </p:txBody>
      </p:sp>
      <p:sp>
        <p:nvSpPr>
          <p:cNvPr id="22" name="Rectangle 21"/>
          <p:cNvSpPr/>
          <p:nvPr/>
        </p:nvSpPr>
        <p:spPr>
          <a:xfrm>
            <a:off x="7360920" y="4626864"/>
            <a:ext cx="502920" cy="411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20" y="4754880"/>
            <a:ext cx="4251960" cy="1463040"/>
          </a:xfrm>
          <a:prstGeom prst="rect">
            <a:avLst/>
          </a:prstGeom>
          <a:noFill/>
        </p:spPr>
        <p:txBody>
          <a:bodyPr wrap="square" lIns="45720" tIns="0" rIns="45720">
            <a:spAutoFit/>
          </a:bodyPr>
          <a:lstStyle/>
          <a:p>
            <a:pPr>
              <a:lnSpc>
                <a:spcPct val="105000"/>
              </a:lnSpc>
              <a:spcBef>
                <a:spcPts val="0"/>
              </a:spcBef>
              <a:spcAft>
                <a:spcPts val="600"/>
              </a:spcAft>
            </a:pPr>
            <a:r>
              <a:rPr sz="1250" b="1">
                <a:solidFill>
                  <a:srgbClr val="2A9D8F"/>
                </a:solidFill>
                <a:latin typeface="Calibri"/>
              </a:rPr>
              <a:t>▪  </a:t>
            </a:r>
            <a:r>
              <a:rPr sz="1250" b="0">
                <a:solidFill>
                  <a:srgbClr val="22303F"/>
                </a:solidFill>
                <a:latin typeface="Calibri"/>
              </a:rPr>
              <a:t>No airline lock-in is holding our best customers — they can drift to whoever is cheapest, which is real churn risk.</a:t>
            </a:r>
          </a:p>
          <a:p>
            <a:pPr>
              <a:lnSpc>
                <a:spcPct val="105000"/>
              </a:lnSpc>
              <a:spcBef>
                <a:spcPts val="0"/>
              </a:spcBef>
              <a:spcAft>
                <a:spcPts val="600"/>
              </a:spcAft>
            </a:pPr>
            <a:r>
              <a:rPr sz="1250" b="1">
                <a:solidFill>
                  <a:srgbClr val="2A9D8F"/>
                </a:solidFill>
                <a:latin typeface="Calibri"/>
              </a:rPr>
              <a:t>▪  </a:t>
            </a:r>
            <a:r>
              <a:rPr sz="1250" b="0">
                <a:solidFill>
                  <a:srgbClr val="22303F"/>
                </a:solidFill>
                <a:latin typeface="Calibri"/>
              </a:rPr>
              <a:t>But that unclaimed loyalty is the opportunity: a TravelTide points programme can capture what airlines never did.</a:t>
            </a:r>
          </a:p>
          <a:p>
            <a:pPr>
              <a:lnSpc>
                <a:spcPct val="105000"/>
              </a:lnSpc>
              <a:spcBef>
                <a:spcPts val="0"/>
              </a:spcBef>
              <a:spcAft>
                <a:spcPts val="600"/>
              </a:spcAft>
            </a:pPr>
            <a:r>
              <a:rPr sz="1250" b="1">
                <a:solidFill>
                  <a:srgbClr val="2A9D8F"/>
                </a:solidFill>
                <a:latin typeface="Calibri"/>
              </a:rPr>
              <a:t>▪  </a:t>
            </a:r>
            <a:r>
              <a:rPr sz="1250" b="0">
                <a:solidFill>
                  <a:srgbClr val="22303F"/>
                </a:solidFill>
                <a:latin typeface="Calibri"/>
              </a:rPr>
              <a:t>This is exactly why the engaged-mainstream perk is loyalty lock-in, not a discount — turn shoppers into members.</a:t>
            </a:r>
          </a:p>
        </p:txBody>
      </p:sp>
      <p:sp>
        <p:nvSpPr>
          <p:cNvPr id="25" name="TextBox 24"/>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dirty="0">
                <a:solidFill>
                  <a:srgbClr val="8A94A6"/>
                </a:solidFill>
                <a:latin typeface="Calibri"/>
              </a:rPr>
              <a:t>1</a:t>
            </a:r>
            <a:r>
              <a:rPr lang="en-US" sz="900" b="0" i="0" dirty="0">
                <a:solidFill>
                  <a:srgbClr val="8A94A6"/>
                </a:solidFill>
                <a:latin typeface="Calibri"/>
              </a:rPr>
              <a:t>3</a:t>
            </a:r>
            <a:endParaRPr sz="900" b="0" i="0" dirty="0">
              <a:solidFill>
                <a:srgbClr val="8A94A6"/>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91695" cy="54864"/>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1115568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INSIGHT 2 · ENGAGEMENT</a:t>
            </a:r>
          </a:p>
        </p:txBody>
      </p:sp>
      <p:sp>
        <p:nvSpPr>
          <p:cNvPr id="5" name="TextBox 4"/>
          <p:cNvSpPr txBox="1"/>
          <p:nvPr/>
        </p:nvSpPr>
        <p:spPr>
          <a:xfrm>
            <a:off x="502920" y="402336"/>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FFFFFF"/>
                </a:solidFill>
                <a:latin typeface="Calibri"/>
              </a:rPr>
              <a:t>High engagement lifts bookings — and cancellations in equal measure</a:t>
            </a:r>
          </a:p>
        </p:txBody>
      </p:sp>
      <p:sp>
        <p:nvSpPr>
          <p:cNvPr id="6" name="Rectangle 5"/>
          <p:cNvSpPr/>
          <p:nvPr/>
        </p:nvSpPr>
        <p:spPr>
          <a:xfrm>
            <a:off x="457200" y="1417320"/>
            <a:ext cx="6446520" cy="452628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user_02_engagement.png"/>
          <p:cNvPicPr>
            <a:picLocks noChangeAspect="1"/>
          </p:cNvPicPr>
          <p:nvPr/>
        </p:nvPicPr>
        <p:blipFill>
          <a:blip r:embed="rId3"/>
          <a:stretch>
            <a:fillRect/>
          </a:stretch>
        </p:blipFill>
        <p:spPr>
          <a:xfrm>
            <a:off x="548640" y="1962930"/>
            <a:ext cx="6263640" cy="3435059"/>
          </a:xfrm>
          <a:prstGeom prst="rect">
            <a:avLst/>
          </a:prstGeom>
        </p:spPr>
      </p:pic>
      <p:sp>
        <p:nvSpPr>
          <p:cNvPr id="8" name="Rectangle 7"/>
          <p:cNvSpPr/>
          <p:nvPr/>
        </p:nvSpPr>
        <p:spPr>
          <a:xfrm>
            <a:off x="50292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3D6FB4"/>
                </a:solidFill>
                <a:latin typeface="Calibri"/>
              </a:rPr>
              <a:t>47%</a:t>
            </a:r>
          </a:p>
        </p:txBody>
      </p:sp>
      <p:sp>
        <p:nvSpPr>
          <p:cNvPr id="10" name="TextBox 9"/>
          <p:cNvSpPr txBox="1"/>
          <p:nvPr/>
        </p:nvSpPr>
        <p:spPr>
          <a:xfrm>
            <a:off x="50292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top-quartile booking rate</a:t>
            </a:r>
          </a:p>
        </p:txBody>
      </p:sp>
      <p:sp>
        <p:nvSpPr>
          <p:cNvPr id="11" name="Rectangle 10"/>
          <p:cNvSpPr/>
          <p:nvPr/>
        </p:nvSpPr>
        <p:spPr>
          <a:xfrm>
            <a:off x="269748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C44536"/>
                </a:solidFill>
                <a:latin typeface="Calibri"/>
              </a:rPr>
              <a:t>4.8%</a:t>
            </a:r>
          </a:p>
        </p:txBody>
      </p:sp>
      <p:sp>
        <p:nvSpPr>
          <p:cNvPr id="13" name="TextBox 12"/>
          <p:cNvSpPr txBox="1"/>
          <p:nvPr/>
        </p:nvSpPr>
        <p:spPr>
          <a:xfrm>
            <a:off x="269748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top-quartile cancel rate</a:t>
            </a:r>
          </a:p>
        </p:txBody>
      </p:sp>
      <p:sp>
        <p:nvSpPr>
          <p:cNvPr id="14" name="Rectangle 13"/>
          <p:cNvSpPr/>
          <p:nvPr/>
        </p:nvSpPr>
        <p:spPr>
          <a:xfrm>
            <a:off x="489204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9204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6B7685"/>
                </a:solidFill>
                <a:latin typeface="Calibri"/>
              </a:rPr>
              <a:t>0.83</a:t>
            </a:r>
          </a:p>
        </p:txBody>
      </p:sp>
      <p:sp>
        <p:nvSpPr>
          <p:cNvPr id="16" name="TextBox 15"/>
          <p:cNvSpPr txBox="1"/>
          <p:nvPr/>
        </p:nvSpPr>
        <p:spPr>
          <a:xfrm>
            <a:off x="489204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engagement↔cancel corr</a:t>
            </a:r>
          </a:p>
        </p:txBody>
      </p:sp>
      <p:sp>
        <p:nvSpPr>
          <p:cNvPr id="17" name="TextBox 16"/>
          <p:cNvSpPr txBox="1"/>
          <p:nvPr/>
        </p:nvSpPr>
        <p:spPr>
          <a:xfrm>
            <a:off x="7178040" y="1481328"/>
            <a:ext cx="461772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WHAT THE DATA SHOWS</a:t>
            </a:r>
          </a:p>
        </p:txBody>
      </p:sp>
      <p:sp>
        <p:nvSpPr>
          <p:cNvPr id="18" name="Rectangle 17"/>
          <p:cNvSpPr/>
          <p:nvPr/>
        </p:nvSpPr>
        <p:spPr>
          <a:xfrm>
            <a:off x="7178040" y="1810512"/>
            <a:ext cx="502920" cy="41148"/>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78040" y="1938528"/>
            <a:ext cx="4617720" cy="2103120"/>
          </a:xfrm>
          <a:prstGeom prst="rect">
            <a:avLst/>
          </a:prstGeom>
          <a:noFill/>
        </p:spPr>
        <p:txBody>
          <a:bodyPr wrap="square" lIns="45720" tIns="0" rIns="45720">
            <a:spAutoFit/>
          </a:bodyPr>
          <a:lstStyle/>
          <a:p>
            <a:pPr>
              <a:lnSpc>
                <a:spcPct val="105000"/>
              </a:lnSpc>
              <a:spcBef>
                <a:spcPts val="0"/>
              </a:spcBef>
              <a:spcAft>
                <a:spcPts val="700"/>
              </a:spcAft>
            </a:pPr>
            <a:r>
              <a:rPr sz="1350" b="1">
                <a:solidFill>
                  <a:srgbClr val="C44536"/>
                </a:solidFill>
                <a:latin typeface="Calibri"/>
              </a:rPr>
              <a:t>▪  </a:t>
            </a:r>
            <a:r>
              <a:rPr sz="1350" b="0">
                <a:solidFill>
                  <a:srgbClr val="22303F"/>
                </a:solidFill>
                <a:latin typeface="Calibri"/>
              </a:rPr>
              <a:t>Engagement score = avg_page_clicks × avg_session_duration_min — an engineered measure of research intensity per customer.</a:t>
            </a:r>
          </a:p>
          <a:p>
            <a:pPr>
              <a:lnSpc>
                <a:spcPct val="105000"/>
              </a:lnSpc>
              <a:spcBef>
                <a:spcPts val="0"/>
              </a:spcBef>
              <a:spcAft>
                <a:spcPts val="700"/>
              </a:spcAft>
            </a:pPr>
            <a:r>
              <a:rPr sz="1350" b="1">
                <a:solidFill>
                  <a:srgbClr val="C44536"/>
                </a:solidFill>
                <a:latin typeface="Calibri"/>
              </a:rPr>
              <a:t>▪  </a:t>
            </a:r>
            <a:r>
              <a:rPr sz="1350" b="0">
                <a:solidFill>
                  <a:srgbClr val="22303F"/>
                </a:solidFill>
                <a:latin typeface="Calibri"/>
              </a:rPr>
              <a:t>The top engagement quartile books at 47% vs 18.7% in the bottom — a 2.5× conversion advantage.</a:t>
            </a:r>
          </a:p>
          <a:p>
            <a:pPr>
              <a:lnSpc>
                <a:spcPct val="105000"/>
              </a:lnSpc>
              <a:spcBef>
                <a:spcPts val="0"/>
              </a:spcBef>
              <a:spcAft>
                <a:spcPts val="700"/>
              </a:spcAft>
            </a:pPr>
            <a:r>
              <a:rPr sz="1350" b="1">
                <a:solidFill>
                  <a:srgbClr val="C44536"/>
                </a:solidFill>
                <a:latin typeface="Calibri"/>
              </a:rPr>
              <a:t>▪  </a:t>
            </a:r>
            <a:r>
              <a:rPr sz="1350" b="1">
                <a:solidFill>
                  <a:srgbClr val="22303F"/>
                </a:solidFill>
                <a:latin typeface="Calibri"/>
              </a:rPr>
              <a:t>But the same top quartile cancels at 4.8% vs ~0%; the engagement-to-cancellation correlation (0.83) is the strongest in the data.</a:t>
            </a:r>
          </a:p>
          <a:p>
            <a:pPr>
              <a:lnSpc>
                <a:spcPct val="105000"/>
              </a:lnSpc>
              <a:spcBef>
                <a:spcPts val="0"/>
              </a:spcBef>
              <a:spcAft>
                <a:spcPts val="700"/>
              </a:spcAft>
            </a:pPr>
            <a:r>
              <a:rPr sz="1350" b="1">
                <a:solidFill>
                  <a:srgbClr val="C44536"/>
                </a:solidFill>
                <a:latin typeface="Calibri"/>
              </a:rPr>
              <a:t>▪  </a:t>
            </a:r>
            <a:r>
              <a:rPr sz="1350" b="0">
                <a:solidFill>
                  <a:srgbClr val="22303F"/>
                </a:solidFill>
                <a:latin typeface="Calibri"/>
              </a:rPr>
              <a:t>Heavy researchers both commit the most and reverse the most — deliberate, often speculative bookers.</a:t>
            </a:r>
          </a:p>
        </p:txBody>
      </p:sp>
      <p:sp>
        <p:nvSpPr>
          <p:cNvPr id="20" name="Rectangle 19"/>
          <p:cNvSpPr/>
          <p:nvPr/>
        </p:nvSpPr>
        <p:spPr>
          <a:xfrm>
            <a:off x="7178040" y="4160520"/>
            <a:ext cx="4617720" cy="247802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60920" y="4297680"/>
            <a:ext cx="429768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C44536"/>
                </a:solidFill>
                <a:latin typeface="Calibri"/>
              </a:rPr>
              <a:t>WHAT IT MEANS</a:t>
            </a:r>
          </a:p>
        </p:txBody>
      </p:sp>
      <p:sp>
        <p:nvSpPr>
          <p:cNvPr id="22" name="Rectangle 21"/>
          <p:cNvSpPr/>
          <p:nvPr/>
        </p:nvSpPr>
        <p:spPr>
          <a:xfrm>
            <a:off x="7360920" y="4626864"/>
            <a:ext cx="502920" cy="41148"/>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20" y="4754880"/>
            <a:ext cx="4251960" cy="1463040"/>
          </a:xfrm>
          <a:prstGeom prst="rect">
            <a:avLst/>
          </a:prstGeom>
          <a:noFill/>
        </p:spPr>
        <p:txBody>
          <a:bodyPr wrap="square" lIns="45720" tIns="0" rIns="45720">
            <a:spAutoFit/>
          </a:bodyPr>
          <a:lstStyle/>
          <a:p>
            <a:pPr>
              <a:lnSpc>
                <a:spcPct val="105000"/>
              </a:lnSpc>
              <a:spcBef>
                <a:spcPts val="0"/>
              </a:spcBef>
              <a:spcAft>
                <a:spcPts val="600"/>
              </a:spcAft>
            </a:pPr>
            <a:r>
              <a:rPr sz="1250" b="1">
                <a:solidFill>
                  <a:srgbClr val="C44536"/>
                </a:solidFill>
                <a:latin typeface="Calibri"/>
              </a:rPr>
              <a:t>▪  </a:t>
            </a:r>
            <a:r>
              <a:rPr sz="1250" b="0">
                <a:solidFill>
                  <a:srgbClr val="22303F"/>
                </a:solidFill>
                <a:latin typeface="Calibri"/>
              </a:rPr>
              <a:t>Engagement isn't one signal — split it: high-engagement + low-cancel earn loyalty rewards; high-engagement + high-cancel get flexibility.</a:t>
            </a:r>
          </a:p>
          <a:p>
            <a:pPr>
              <a:lnSpc>
                <a:spcPct val="105000"/>
              </a:lnSpc>
              <a:spcBef>
                <a:spcPts val="0"/>
              </a:spcBef>
              <a:spcAft>
                <a:spcPts val="600"/>
              </a:spcAft>
            </a:pPr>
            <a:r>
              <a:rPr sz="1250" b="1">
                <a:solidFill>
                  <a:srgbClr val="C44536"/>
                </a:solidFill>
                <a:latin typeface="Calibri"/>
              </a:rPr>
              <a:t>▪  </a:t>
            </a:r>
            <a:r>
              <a:rPr sz="1250" b="0">
                <a:solidFill>
                  <a:srgbClr val="22303F"/>
                </a:solidFill>
                <a:latin typeface="Calibri"/>
              </a:rPr>
              <a:t>For the budget deal-hunters (most engaged, highest cancellation), tie rewards to completed trips and offer flexible change, not deeper price cuts.</a:t>
            </a:r>
          </a:p>
          <a:p>
            <a:pPr>
              <a:lnSpc>
                <a:spcPct val="105000"/>
              </a:lnSpc>
              <a:spcBef>
                <a:spcPts val="0"/>
              </a:spcBef>
              <a:spcAft>
                <a:spcPts val="600"/>
              </a:spcAft>
            </a:pPr>
            <a:r>
              <a:rPr sz="1250" b="1">
                <a:solidFill>
                  <a:srgbClr val="C44536"/>
                </a:solidFill>
                <a:latin typeface="Calibri"/>
              </a:rPr>
              <a:t>▪  </a:t>
            </a:r>
            <a:r>
              <a:rPr sz="1250" b="0">
                <a:solidFill>
                  <a:srgbClr val="22303F"/>
                </a:solidFill>
                <a:latin typeface="Calibri"/>
              </a:rPr>
              <a:t>Don't optimise for clicks alone — engagement that ends in cancellation inflates gross bookings but not revenue.</a:t>
            </a:r>
          </a:p>
        </p:txBody>
      </p:sp>
      <p:sp>
        <p:nvSpPr>
          <p:cNvPr id="25" name="TextBox 24"/>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14</a:t>
            </a:r>
            <a:endParaRPr sz="900" b="0" i="0" dirty="0">
              <a:solidFill>
                <a:srgbClr val="8A94A6"/>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1115568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INSIGHT 3 · PLANNING HORIZON</a:t>
            </a:r>
          </a:p>
        </p:txBody>
      </p:sp>
      <p:sp>
        <p:nvSpPr>
          <p:cNvPr id="5" name="TextBox 4"/>
          <p:cNvSpPr txBox="1"/>
          <p:nvPr/>
        </p:nvSpPr>
        <p:spPr>
          <a:xfrm>
            <a:off x="502920" y="402336"/>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200" b="1" i="0">
                <a:solidFill>
                  <a:srgbClr val="FFFFFF"/>
                </a:solidFill>
                <a:latin typeface="Calibri"/>
              </a:rPr>
              <a:t>Far-advance planners are our highest-value customers</a:t>
            </a:r>
          </a:p>
        </p:txBody>
      </p:sp>
      <p:sp>
        <p:nvSpPr>
          <p:cNvPr id="6" name="Rectangle 5"/>
          <p:cNvSpPr/>
          <p:nvPr/>
        </p:nvSpPr>
        <p:spPr>
          <a:xfrm>
            <a:off x="457200" y="1417320"/>
            <a:ext cx="6446520" cy="452628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user_03_planners.png"/>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tretch>
            <a:fillRect/>
          </a:stretch>
        </p:blipFill>
        <p:spPr>
          <a:xfrm>
            <a:off x="548640" y="1888363"/>
            <a:ext cx="6263640" cy="3584194"/>
          </a:xfrm>
          <a:prstGeom prst="rect">
            <a:avLst/>
          </a:prstGeom>
        </p:spPr>
      </p:pic>
      <p:sp>
        <p:nvSpPr>
          <p:cNvPr id="8" name="Rectangle 7"/>
          <p:cNvSpPr/>
          <p:nvPr/>
        </p:nvSpPr>
        <p:spPr>
          <a:xfrm>
            <a:off x="50292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E8743B"/>
                </a:solidFill>
                <a:latin typeface="Calibri"/>
              </a:rPr>
              <a:t>145 days</a:t>
            </a:r>
          </a:p>
        </p:txBody>
      </p:sp>
      <p:sp>
        <p:nvSpPr>
          <p:cNvPr id="10" name="TextBox 9"/>
          <p:cNvSpPr txBox="1"/>
          <p:nvPr/>
        </p:nvSpPr>
        <p:spPr>
          <a:xfrm>
            <a:off x="50292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planners' avg lead time</a:t>
            </a:r>
          </a:p>
        </p:txBody>
      </p:sp>
      <p:sp>
        <p:nvSpPr>
          <p:cNvPr id="11" name="Rectangle 10"/>
          <p:cNvSpPr/>
          <p:nvPr/>
        </p:nvSpPr>
        <p:spPr>
          <a:xfrm>
            <a:off x="269748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3D6FB4"/>
                </a:solidFill>
                <a:latin typeface="Calibri"/>
              </a:rPr>
              <a:t>$7.9k</a:t>
            </a:r>
          </a:p>
        </p:txBody>
      </p:sp>
      <p:sp>
        <p:nvSpPr>
          <p:cNvPr id="13" name="TextBox 12"/>
          <p:cNvSpPr txBox="1"/>
          <p:nvPr/>
        </p:nvSpPr>
        <p:spPr>
          <a:xfrm>
            <a:off x="269748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their lifetime spend (~4×)</a:t>
            </a:r>
          </a:p>
        </p:txBody>
      </p:sp>
      <p:sp>
        <p:nvSpPr>
          <p:cNvPr id="14" name="Rectangle 13"/>
          <p:cNvSpPr/>
          <p:nvPr/>
        </p:nvSpPr>
        <p:spPr>
          <a:xfrm>
            <a:off x="4892040" y="6035040"/>
            <a:ext cx="2057400" cy="603504"/>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92040" y="6062472"/>
            <a:ext cx="2057400" cy="329184"/>
          </a:xfrm>
          <a:prstGeom prst="rect">
            <a:avLst/>
          </a:prstGeom>
          <a:noFill/>
        </p:spPr>
        <p:txBody>
          <a:bodyPr wrap="square" lIns="45720" tIns="0" rIns="45720" bIns="0" anchor="t">
            <a:spAutoFit/>
          </a:bodyPr>
          <a:lstStyle/>
          <a:p>
            <a:pPr algn="ctr">
              <a:lnSpc>
                <a:spcPct val="100000"/>
              </a:lnSpc>
              <a:spcBef>
                <a:spcPts val="0"/>
              </a:spcBef>
              <a:spcAft>
                <a:spcPts val="400"/>
              </a:spcAft>
            </a:pPr>
            <a:r>
              <a:rPr sz="1800" b="1" i="0">
                <a:solidFill>
                  <a:srgbClr val="2A9D8F"/>
                </a:solidFill>
                <a:latin typeface="Calibri"/>
              </a:rPr>
              <a:t>57%</a:t>
            </a:r>
          </a:p>
        </p:txBody>
      </p:sp>
      <p:sp>
        <p:nvSpPr>
          <p:cNvPr id="16" name="TextBox 15"/>
          <p:cNvSpPr txBox="1"/>
          <p:nvPr/>
        </p:nvSpPr>
        <p:spPr>
          <a:xfrm>
            <a:off x="4892040" y="6400800"/>
            <a:ext cx="2057400" cy="237744"/>
          </a:xfrm>
          <a:prstGeom prst="rect">
            <a:avLst/>
          </a:prstGeom>
          <a:noFill/>
        </p:spPr>
        <p:txBody>
          <a:bodyPr wrap="square" lIns="45720" tIns="0" rIns="45720" bIns="0" anchor="t">
            <a:spAutoFit/>
          </a:bodyPr>
          <a:lstStyle/>
          <a:p>
            <a:pPr algn="ctr">
              <a:lnSpc>
                <a:spcPct val="100000"/>
              </a:lnSpc>
              <a:spcBef>
                <a:spcPts val="0"/>
              </a:spcBef>
              <a:spcAft>
                <a:spcPts val="400"/>
              </a:spcAft>
            </a:pPr>
            <a:r>
              <a:rPr sz="950" b="0" i="0">
                <a:solidFill>
                  <a:srgbClr val="6B7685"/>
                </a:solidFill>
                <a:latin typeface="Calibri"/>
              </a:rPr>
              <a:t>of planners fly international</a:t>
            </a:r>
          </a:p>
        </p:txBody>
      </p:sp>
      <p:sp>
        <p:nvSpPr>
          <p:cNvPr id="17" name="TextBox 16"/>
          <p:cNvSpPr txBox="1"/>
          <p:nvPr/>
        </p:nvSpPr>
        <p:spPr>
          <a:xfrm>
            <a:off x="7178040" y="1481328"/>
            <a:ext cx="461772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WHAT THE DATA SHOWS</a:t>
            </a:r>
          </a:p>
        </p:txBody>
      </p:sp>
      <p:sp>
        <p:nvSpPr>
          <p:cNvPr id="18" name="Rectangle 17"/>
          <p:cNvSpPr/>
          <p:nvPr/>
        </p:nvSpPr>
        <p:spPr>
          <a:xfrm>
            <a:off x="7178040" y="1810512"/>
            <a:ext cx="502920" cy="4114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78040" y="1938528"/>
            <a:ext cx="4617720" cy="2103120"/>
          </a:xfrm>
          <a:prstGeom prst="rect">
            <a:avLst/>
          </a:prstGeom>
          <a:noFill/>
        </p:spPr>
        <p:txBody>
          <a:bodyPr wrap="square" lIns="45720" tIns="0" rIns="45720">
            <a:spAutoFit/>
          </a:bodyPr>
          <a:lstStyle/>
          <a:p>
            <a:pPr>
              <a:lnSpc>
                <a:spcPct val="105000"/>
              </a:lnSpc>
              <a:spcBef>
                <a:spcPts val="0"/>
              </a:spcBef>
              <a:spcAft>
                <a:spcPts val="700"/>
              </a:spcAft>
            </a:pPr>
            <a:r>
              <a:rPr sz="1350" b="1">
                <a:solidFill>
                  <a:srgbClr val="E8743B"/>
                </a:solidFill>
                <a:latin typeface="Calibri"/>
              </a:rPr>
              <a:t>▪  </a:t>
            </a:r>
            <a:r>
              <a:rPr sz="1350" b="0">
                <a:solidFill>
                  <a:srgbClr val="22303F"/>
                </a:solidFill>
                <a:latin typeface="Calibri"/>
              </a:rPr>
              <a:t>Plotting the engineered avg_lead_time_days against total lifetime spend, the very top spenders are almost all long-lead planners.</a:t>
            </a:r>
          </a:p>
          <a:p>
            <a:pPr>
              <a:lnSpc>
                <a:spcPct val="105000"/>
              </a:lnSpc>
              <a:spcBef>
                <a:spcPts val="0"/>
              </a:spcBef>
              <a:spcAft>
                <a:spcPts val="700"/>
              </a:spcAft>
            </a:pPr>
            <a:r>
              <a:rPr sz="1350" b="1">
                <a:solidFill>
                  <a:srgbClr val="E8743B"/>
                </a:solidFill>
                <a:latin typeface="Calibri"/>
              </a:rPr>
              <a:t>▪  </a:t>
            </a:r>
            <a:r>
              <a:rPr sz="1350" b="0">
                <a:solidFill>
                  <a:srgbClr val="22303F"/>
                </a:solidFill>
                <a:latin typeface="Calibri"/>
              </a:rPr>
              <a:t>Last-minute bookers (under 10 days) cluster at the low end; the highest-value customers book 50+ days ahead.</a:t>
            </a:r>
          </a:p>
          <a:p>
            <a:pPr>
              <a:lnSpc>
                <a:spcPct val="105000"/>
              </a:lnSpc>
              <a:spcBef>
                <a:spcPts val="0"/>
              </a:spcBef>
              <a:spcAft>
                <a:spcPts val="700"/>
              </a:spcAft>
            </a:pPr>
            <a:r>
              <a:rPr sz="1350" b="1">
                <a:solidFill>
                  <a:srgbClr val="E8743B"/>
                </a:solidFill>
                <a:latin typeface="Calibri"/>
              </a:rPr>
              <a:t>▪  </a:t>
            </a:r>
            <a:r>
              <a:rPr sz="1350" b="1">
                <a:solidFill>
                  <a:srgbClr val="22303F"/>
                </a:solidFill>
                <a:latin typeface="Calibri"/>
              </a:rPr>
              <a:t>Lead time is a cleaner value signal than fare alone — it reflects deliberate, high-value trips (international, longer stays, bundles).</a:t>
            </a:r>
          </a:p>
          <a:p>
            <a:pPr>
              <a:lnSpc>
                <a:spcPct val="105000"/>
              </a:lnSpc>
              <a:spcBef>
                <a:spcPts val="0"/>
              </a:spcBef>
              <a:spcAft>
                <a:spcPts val="700"/>
              </a:spcAft>
            </a:pPr>
            <a:r>
              <a:rPr sz="1350" b="1">
                <a:solidFill>
                  <a:srgbClr val="E8743B"/>
                </a:solidFill>
                <a:latin typeface="Calibri"/>
              </a:rPr>
              <a:t>▪  </a:t>
            </a:r>
            <a:r>
              <a:rPr sz="1350" b="0">
                <a:solidFill>
                  <a:srgbClr val="22303F"/>
                </a:solidFill>
                <a:latin typeface="Calibri"/>
              </a:rPr>
              <a:t>These planners form the Premium far-advance segment: ~$7,868 lifetime spend, about 4× the light-mainstream tier.</a:t>
            </a:r>
          </a:p>
        </p:txBody>
      </p:sp>
      <p:sp>
        <p:nvSpPr>
          <p:cNvPr id="20" name="Rectangle 19"/>
          <p:cNvSpPr/>
          <p:nvPr/>
        </p:nvSpPr>
        <p:spPr>
          <a:xfrm>
            <a:off x="7178040" y="4160520"/>
            <a:ext cx="4617720" cy="2148840"/>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60920" y="4297680"/>
            <a:ext cx="429768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E8743B"/>
                </a:solidFill>
                <a:latin typeface="Calibri"/>
              </a:rPr>
              <a:t>WHAT IT MEANS</a:t>
            </a:r>
          </a:p>
        </p:txBody>
      </p:sp>
      <p:sp>
        <p:nvSpPr>
          <p:cNvPr id="22" name="Rectangle 21"/>
          <p:cNvSpPr/>
          <p:nvPr/>
        </p:nvSpPr>
        <p:spPr>
          <a:xfrm>
            <a:off x="7360920" y="4626864"/>
            <a:ext cx="502920" cy="4114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60920" y="4754880"/>
            <a:ext cx="4251960" cy="1463040"/>
          </a:xfrm>
          <a:prstGeom prst="rect">
            <a:avLst/>
          </a:prstGeom>
          <a:noFill/>
        </p:spPr>
        <p:txBody>
          <a:bodyPr wrap="square" lIns="45720" tIns="0" rIns="45720">
            <a:spAutoFit/>
          </a:bodyPr>
          <a:lstStyle/>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Win planners with flexibility, not discounts — a 145-day horizon makes free changes / no cancellation fees the decisive perk.</a:t>
            </a:r>
          </a:p>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Re-engage them proactively 60–90 days before their typical booking window, ahead of competitors' offers.</a:t>
            </a:r>
          </a:p>
          <a:p>
            <a:pPr>
              <a:lnSpc>
                <a:spcPct val="105000"/>
              </a:lnSpc>
              <a:spcBef>
                <a:spcPts val="0"/>
              </a:spcBef>
              <a:spcAft>
                <a:spcPts val="600"/>
              </a:spcAft>
            </a:pPr>
            <a:r>
              <a:rPr sz="1250" b="1">
                <a:solidFill>
                  <a:srgbClr val="E8743B"/>
                </a:solidFill>
                <a:latin typeface="Calibri"/>
              </a:rPr>
              <a:t>▪  </a:t>
            </a:r>
            <a:r>
              <a:rPr sz="1250" b="0">
                <a:solidFill>
                  <a:srgbClr val="22303F"/>
                </a:solidFill>
                <a:latin typeface="Calibri"/>
              </a:rPr>
              <a:t>Protect this thin, high-value tier with premium service — losing even a few is disproportionately costly.</a:t>
            </a:r>
          </a:p>
        </p:txBody>
      </p:sp>
      <p:sp>
        <p:nvSpPr>
          <p:cNvPr id="25" name="TextBox 24"/>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15</a:t>
            </a:r>
            <a:endParaRPr sz="900" b="0" i="0" dirty="0">
              <a:solidFill>
                <a:srgbClr val="8A94A6"/>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CLUSTERING APPROACH</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Stop at k=5, then split the mainstream — a two-stage design</a:t>
            </a:r>
          </a:p>
        </p:txBody>
      </p:sp>
      <p:sp>
        <p:nvSpPr>
          <p:cNvPr id="6" name="Rectangle 5"/>
          <p:cNvSpPr/>
          <p:nvPr/>
        </p:nvSpPr>
        <p:spPr>
          <a:xfrm>
            <a:off x="548640" y="1481328"/>
            <a:ext cx="5943600" cy="416052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k_selection.png"/>
          <p:cNvPicPr>
            <a:picLocks noChangeAspect="1"/>
          </p:cNvPicPr>
          <p:nvPr/>
        </p:nvPicPr>
        <p:blipFill>
          <a:blip r:embed="rId3"/>
          <a:stretch>
            <a:fillRect/>
          </a:stretch>
        </p:blipFill>
        <p:spPr>
          <a:xfrm>
            <a:off x="640080" y="1600200"/>
            <a:ext cx="5760720" cy="3085781"/>
          </a:xfrm>
          <a:prstGeom prst="rect">
            <a:avLst/>
          </a:prstGeom>
        </p:spPr>
      </p:pic>
      <p:sp>
        <p:nvSpPr>
          <p:cNvPr id="8" name="TextBox 7"/>
          <p:cNvSpPr txBox="1"/>
          <p:nvPr/>
        </p:nvSpPr>
        <p:spPr>
          <a:xfrm>
            <a:off x="6766560" y="1691640"/>
            <a:ext cx="4846320" cy="4206240"/>
          </a:xfrm>
          <a:prstGeom prst="rect">
            <a:avLst/>
          </a:prstGeom>
          <a:noFill/>
        </p:spPr>
        <p:txBody>
          <a:bodyPr wrap="square" lIns="45720" tIns="0" rIns="45720">
            <a:spAutoFit/>
          </a:bodyPr>
          <a:lstStyle/>
          <a:p>
            <a:pPr>
              <a:lnSpc>
                <a:spcPct val="105000"/>
              </a:lnSpc>
              <a:spcBef>
                <a:spcPts val="0"/>
              </a:spcBef>
              <a:spcAft>
                <a:spcPts val="1000"/>
              </a:spcAft>
            </a:pPr>
            <a:r>
              <a:rPr sz="1300" b="1">
                <a:solidFill>
                  <a:srgbClr val="E8743B"/>
                </a:solidFill>
                <a:latin typeface="Calibri"/>
              </a:rPr>
              <a:t>▪  </a:t>
            </a:r>
            <a:r>
              <a:rPr sz="1300" b="0">
                <a:solidFill>
                  <a:srgbClr val="22303F"/>
                </a:solidFill>
                <a:latin typeface="Calibri"/>
              </a:rPr>
              <a:t>Silhouette (cluster quality) holds through k=5, then falls off a cliff at k=6 — so k=5 is the natural stopping point.</a:t>
            </a:r>
          </a:p>
          <a:p>
            <a:pPr>
              <a:lnSpc>
                <a:spcPct val="105000"/>
              </a:lnSpc>
              <a:spcBef>
                <a:spcPts val="0"/>
              </a:spcBef>
              <a:spcAft>
                <a:spcPts val="1000"/>
              </a:spcAft>
            </a:pPr>
            <a:r>
              <a:rPr sz="1300" b="1">
                <a:solidFill>
                  <a:srgbClr val="E8743B"/>
                </a:solidFill>
                <a:latin typeface="Calibri"/>
              </a:rPr>
              <a:t>▪  </a:t>
            </a:r>
            <a:r>
              <a:rPr sz="1300" b="0">
                <a:solidFill>
                  <a:srgbClr val="22303F"/>
                </a:solidFill>
                <a:latin typeface="Calibri"/>
              </a:rPr>
              <a:t>k=5 gives four clean, distinct niche segments plus one mainstream mass that is 75% of users.</a:t>
            </a:r>
          </a:p>
          <a:p>
            <a:pPr>
              <a:lnSpc>
                <a:spcPct val="105000"/>
              </a:lnSpc>
              <a:spcBef>
                <a:spcPts val="0"/>
              </a:spcBef>
              <a:spcAft>
                <a:spcPts val="1000"/>
              </a:spcAft>
            </a:pPr>
            <a:r>
              <a:rPr sz="1300" b="1">
                <a:solidFill>
                  <a:srgbClr val="E8743B"/>
                </a:solidFill>
                <a:latin typeface="Calibri"/>
              </a:rPr>
              <a:t>▪  </a:t>
            </a:r>
            <a:r>
              <a:rPr sz="1300" b="0">
                <a:solidFill>
                  <a:srgbClr val="22303F"/>
                </a:solidFill>
                <a:latin typeface="Calibri"/>
              </a:rPr>
              <a:t>That mainstream is too big and varied for a single perk — so we re-cluster it on its own.</a:t>
            </a:r>
          </a:p>
          <a:p>
            <a:pPr>
              <a:lnSpc>
                <a:spcPct val="105000"/>
              </a:lnSpc>
              <a:spcBef>
                <a:spcPts val="0"/>
              </a:spcBef>
              <a:spcAft>
                <a:spcPts val="1000"/>
              </a:spcAft>
            </a:pPr>
            <a:r>
              <a:rPr sz="1300" b="1">
                <a:solidFill>
                  <a:srgbClr val="E8743B"/>
                </a:solidFill>
                <a:latin typeface="Calibri"/>
              </a:rPr>
              <a:t>▪  </a:t>
            </a:r>
            <a:r>
              <a:rPr sz="1300" b="1">
                <a:solidFill>
                  <a:srgbClr val="22303F"/>
                </a:solidFill>
                <a:latin typeface="Calibri"/>
              </a:rPr>
              <a:t>Inside the mainstream there's no sharp gap (it's a soft continuum), so we split it into two tiers — engaged vs occasional — on business grounds, ≈50/50.</a:t>
            </a:r>
          </a:p>
          <a:p>
            <a:pPr>
              <a:lnSpc>
                <a:spcPct val="105000"/>
              </a:lnSpc>
              <a:spcBef>
                <a:spcPts val="0"/>
              </a:spcBef>
              <a:spcAft>
                <a:spcPts val="1000"/>
              </a:spcAft>
            </a:pPr>
            <a:r>
              <a:rPr sz="1300" b="1">
                <a:solidFill>
                  <a:srgbClr val="E8743B"/>
                </a:solidFill>
                <a:latin typeface="Calibri"/>
              </a:rPr>
              <a:t>▪  </a:t>
            </a:r>
            <a:r>
              <a:rPr sz="1300" b="0">
                <a:solidFill>
                  <a:srgbClr val="22303F"/>
                </a:solidFill>
                <a:latin typeface="Calibri"/>
              </a:rPr>
              <a:t>Result: four data-driven niches + two business-driven tiers = six actionable segments.</a:t>
            </a:r>
          </a:p>
        </p:txBody>
      </p:sp>
      <p:sp>
        <p:nvSpPr>
          <p:cNvPr id="9" name="TextBox 8"/>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10" name="TextBox 9"/>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dirty="0">
                <a:solidFill>
                  <a:srgbClr val="8A94A6"/>
                </a:solidFill>
                <a:latin typeface="Calibri"/>
              </a:rPr>
              <a:t>1</a:t>
            </a:r>
            <a:r>
              <a:rPr lang="en-US" sz="900" b="0" i="0" dirty="0">
                <a:solidFill>
                  <a:srgbClr val="8A94A6"/>
                </a:solidFill>
                <a:latin typeface="Calibri"/>
              </a:rPr>
              <a:t>6</a:t>
            </a:r>
            <a:endParaRPr sz="900" b="0" i="0" dirty="0">
              <a:solidFill>
                <a:srgbClr val="8A94A6"/>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THE SIX SEGMENTS</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Two mainstream tiers carry the base; four niches need special care</a:t>
            </a:r>
          </a:p>
        </p:txBody>
      </p:sp>
      <p:sp>
        <p:nvSpPr>
          <p:cNvPr id="6" name="Rectangle 5"/>
          <p:cNvSpPr/>
          <p:nvPr/>
        </p:nvSpPr>
        <p:spPr>
          <a:xfrm>
            <a:off x="502920" y="1463040"/>
            <a:ext cx="5212080" cy="411480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eg_sizes.png"/>
          <p:cNvPicPr>
            <a:picLocks noChangeAspect="1"/>
          </p:cNvPicPr>
          <p:nvPr/>
        </p:nvPicPr>
        <p:blipFill>
          <a:blip r:embed="rId3"/>
          <a:stretch>
            <a:fillRect/>
          </a:stretch>
        </p:blipFill>
        <p:spPr>
          <a:xfrm>
            <a:off x="566928" y="1572768"/>
            <a:ext cx="5074920" cy="2546673"/>
          </a:xfrm>
          <a:prstGeom prst="rect">
            <a:avLst/>
          </a:prstGeom>
        </p:spPr>
      </p:pic>
      <p:graphicFrame>
        <p:nvGraphicFramePr>
          <p:cNvPr id="8" name="Table 7"/>
          <p:cNvGraphicFramePr>
            <a:graphicFrameLocks noGrp="1"/>
          </p:cNvGraphicFramePr>
          <p:nvPr/>
        </p:nvGraphicFramePr>
        <p:xfrm>
          <a:off x="5897880" y="1572768"/>
          <a:ext cx="5760718" cy="3712464"/>
        </p:xfrm>
        <a:graphic>
          <a:graphicData uri="http://schemas.openxmlformats.org/drawingml/2006/table">
            <a:tbl>
              <a:tblPr firstRow="1">
                <a:tableStyleId>{5C22544A-7EE6-4342-B048-85BDC9FD1C3A}</a:tableStyleId>
              </a:tblPr>
              <a:tblGrid>
                <a:gridCol w="1952786">
                  <a:extLst>
                    <a:ext uri="{9D8B030D-6E8A-4147-A177-3AD203B41FA5}">
                      <a16:colId xmlns:a16="http://schemas.microsoft.com/office/drawing/2014/main" val="20000"/>
                    </a:ext>
                  </a:extLst>
                </a:gridCol>
                <a:gridCol w="781114">
                  <a:extLst>
                    <a:ext uri="{9D8B030D-6E8A-4147-A177-3AD203B41FA5}">
                      <a16:colId xmlns:a16="http://schemas.microsoft.com/office/drawing/2014/main" val="20001"/>
                    </a:ext>
                  </a:extLst>
                </a:gridCol>
                <a:gridCol w="3026818">
                  <a:extLst>
                    <a:ext uri="{9D8B030D-6E8A-4147-A177-3AD203B41FA5}">
                      <a16:colId xmlns:a16="http://schemas.microsoft.com/office/drawing/2014/main" val="20002"/>
                    </a:ext>
                  </a:extLst>
                </a:gridCol>
              </a:tblGrid>
              <a:tr h="530352">
                <a:tc>
                  <a:txBody>
                    <a:bodyPr/>
                    <a:lstStyle/>
                    <a:p>
                      <a:pPr algn="l"/>
                      <a:r>
                        <a:rPr sz="1050" b="1">
                          <a:solidFill>
                            <a:srgbClr val="FFFFFF"/>
                          </a:solidFill>
                          <a:latin typeface="Calibri"/>
                        </a:rPr>
                        <a:t>Segment</a:t>
                      </a:r>
                    </a:p>
                  </a:txBody>
                  <a:tcPr marL="54864" marR="36576" marT="18288" marB="18288" anchor="ctr">
                    <a:solidFill>
                      <a:srgbClr val="1F3A5F"/>
                    </a:solidFill>
                  </a:tcPr>
                </a:tc>
                <a:tc>
                  <a:txBody>
                    <a:bodyPr/>
                    <a:lstStyle/>
                    <a:p>
                      <a:pPr algn="ctr"/>
                      <a:r>
                        <a:rPr sz="1050" b="1">
                          <a:solidFill>
                            <a:srgbClr val="FFFFFF"/>
                          </a:solidFill>
                          <a:latin typeface="Calibri"/>
                        </a:rPr>
                        <a:t>Users</a:t>
                      </a:r>
                    </a:p>
                  </a:txBody>
                  <a:tcPr marL="54864" marR="36576" marT="18288" marB="18288" anchor="ctr">
                    <a:solidFill>
                      <a:srgbClr val="1F3A5F"/>
                    </a:solidFill>
                  </a:tcPr>
                </a:tc>
                <a:tc>
                  <a:txBody>
                    <a:bodyPr/>
                    <a:lstStyle/>
                    <a:p>
                      <a:pPr algn="l"/>
                      <a:r>
                        <a:rPr sz="1050" b="1">
                          <a:solidFill>
                            <a:srgbClr val="FFFFFF"/>
                          </a:solidFill>
                          <a:latin typeface="Calibri"/>
                        </a:rPr>
                        <a:t>Signature</a:t>
                      </a:r>
                    </a:p>
                  </a:txBody>
                  <a:tcPr marL="54864" marR="36576" marT="18288" marB="18288" anchor="ctr">
                    <a:solidFill>
                      <a:srgbClr val="1F3A5F"/>
                    </a:solidFill>
                  </a:tcPr>
                </a:tc>
                <a:extLst>
                  <a:ext uri="{0D108BD9-81ED-4DB2-BD59-A6C34878D82A}">
                    <a16:rowId xmlns:a16="http://schemas.microsoft.com/office/drawing/2014/main" val="10000"/>
                  </a:ext>
                </a:extLst>
              </a:tr>
              <a:tr h="530352">
                <a:tc>
                  <a:txBody>
                    <a:bodyPr/>
                    <a:lstStyle/>
                    <a:p>
                      <a:pPr algn="l"/>
                      <a:r>
                        <a:rPr sz="1050" b="0">
                          <a:solidFill>
                            <a:srgbClr val="22303F"/>
                          </a:solidFill>
                          <a:latin typeface="Calibri"/>
                        </a:rPr>
                        <a:t>Engaged mainstream</a:t>
                      </a:r>
                    </a:p>
                  </a:txBody>
                  <a:tcPr marL="54864" marR="36576" marT="18288" marB="18288" anchor="ctr">
                    <a:solidFill>
                      <a:srgbClr val="FFFFFF"/>
                    </a:solidFill>
                  </a:tcPr>
                </a:tc>
                <a:tc>
                  <a:txBody>
                    <a:bodyPr/>
                    <a:lstStyle/>
                    <a:p>
                      <a:pPr algn="ctr"/>
                      <a:r>
                        <a:rPr sz="1050" b="0">
                          <a:solidFill>
                            <a:srgbClr val="22303F"/>
                          </a:solidFill>
                          <a:latin typeface="Calibri"/>
                        </a:rPr>
                        <a:t>2,173</a:t>
                      </a:r>
                    </a:p>
                  </a:txBody>
                  <a:tcPr marL="54864" marR="36576" marT="18288" marB="18288" anchor="ctr">
                    <a:solidFill>
                      <a:srgbClr val="FFFFFF"/>
                    </a:solidFill>
                  </a:tcPr>
                </a:tc>
                <a:tc>
                  <a:txBody>
                    <a:bodyPr/>
                    <a:lstStyle/>
                    <a:p>
                      <a:pPr algn="l"/>
                      <a:r>
                        <a:rPr sz="1050" b="0">
                          <a:solidFill>
                            <a:srgbClr val="22303F"/>
                          </a:solidFill>
                          <a:latin typeface="Calibri"/>
                        </a:rPr>
                        <a:t>48% book · 39% bundle · $4.8k spend</a:t>
                      </a:r>
                    </a:p>
                  </a:txBody>
                  <a:tcPr marL="54864" marR="36576" marT="18288" marB="18288" anchor="ctr">
                    <a:solidFill>
                      <a:srgbClr val="FFFFFF"/>
                    </a:solidFill>
                  </a:tcPr>
                </a:tc>
                <a:extLst>
                  <a:ext uri="{0D108BD9-81ED-4DB2-BD59-A6C34878D82A}">
                    <a16:rowId xmlns:a16="http://schemas.microsoft.com/office/drawing/2014/main" val="10001"/>
                  </a:ext>
                </a:extLst>
              </a:tr>
              <a:tr h="530352">
                <a:tc>
                  <a:txBody>
                    <a:bodyPr/>
                    <a:lstStyle/>
                    <a:p>
                      <a:pPr algn="l"/>
                      <a:r>
                        <a:rPr sz="1050" b="0">
                          <a:solidFill>
                            <a:srgbClr val="22303F"/>
                          </a:solidFill>
                          <a:latin typeface="Calibri"/>
                        </a:rPr>
                        <a:t>Light / occasional</a:t>
                      </a:r>
                    </a:p>
                  </a:txBody>
                  <a:tcPr marL="54864" marR="36576" marT="18288" marB="18288" anchor="ctr">
                    <a:solidFill>
                      <a:srgbClr val="EAF0F6"/>
                    </a:solidFill>
                  </a:tcPr>
                </a:tc>
                <a:tc>
                  <a:txBody>
                    <a:bodyPr/>
                    <a:lstStyle/>
                    <a:p>
                      <a:pPr algn="ctr"/>
                      <a:r>
                        <a:rPr sz="1050" b="0">
                          <a:solidFill>
                            <a:srgbClr val="22303F"/>
                          </a:solidFill>
                          <a:latin typeface="Calibri"/>
                        </a:rPr>
                        <a:t>2,153</a:t>
                      </a:r>
                    </a:p>
                  </a:txBody>
                  <a:tcPr marL="54864" marR="36576" marT="18288" marB="18288" anchor="ctr">
                    <a:solidFill>
                      <a:srgbClr val="EAF0F6"/>
                    </a:solidFill>
                  </a:tcPr>
                </a:tc>
                <a:tc>
                  <a:txBody>
                    <a:bodyPr/>
                    <a:lstStyle/>
                    <a:p>
                      <a:pPr algn="l"/>
                      <a:r>
                        <a:rPr sz="1050" b="0">
                          <a:solidFill>
                            <a:srgbClr val="22303F"/>
                          </a:solidFill>
                          <a:latin typeface="Calibri"/>
                        </a:rPr>
                        <a:t>27% book · solo · $2.1k spend</a:t>
                      </a:r>
                    </a:p>
                  </a:txBody>
                  <a:tcPr marL="54864" marR="36576" marT="18288" marB="18288" anchor="ctr">
                    <a:solidFill>
                      <a:srgbClr val="EAF0F6"/>
                    </a:solidFill>
                  </a:tcPr>
                </a:tc>
                <a:extLst>
                  <a:ext uri="{0D108BD9-81ED-4DB2-BD59-A6C34878D82A}">
                    <a16:rowId xmlns:a16="http://schemas.microsoft.com/office/drawing/2014/main" val="10002"/>
                  </a:ext>
                </a:extLst>
              </a:tr>
              <a:tr h="530352">
                <a:tc>
                  <a:txBody>
                    <a:bodyPr/>
                    <a:lstStyle/>
                    <a:p>
                      <a:pPr algn="l"/>
                      <a:r>
                        <a:rPr sz="1050" b="0">
                          <a:solidFill>
                            <a:srgbClr val="22303F"/>
                          </a:solidFill>
                          <a:latin typeface="Calibri"/>
                        </a:rPr>
                        <a:t>Premium planners</a:t>
                      </a:r>
                    </a:p>
                  </a:txBody>
                  <a:tcPr marL="54864" marR="36576" marT="18288" marB="18288" anchor="ctr">
                    <a:solidFill>
                      <a:srgbClr val="FFFFFF"/>
                    </a:solidFill>
                  </a:tcPr>
                </a:tc>
                <a:tc>
                  <a:txBody>
                    <a:bodyPr/>
                    <a:lstStyle/>
                    <a:p>
                      <a:pPr algn="ctr"/>
                      <a:r>
                        <a:rPr sz="1050" b="0">
                          <a:solidFill>
                            <a:srgbClr val="22303F"/>
                          </a:solidFill>
                          <a:latin typeface="Calibri"/>
                        </a:rPr>
                        <a:t>440</a:t>
                      </a:r>
                    </a:p>
                  </a:txBody>
                  <a:tcPr marL="54864" marR="36576" marT="18288" marB="18288" anchor="ctr">
                    <a:solidFill>
                      <a:srgbClr val="FFFFFF"/>
                    </a:solidFill>
                  </a:tcPr>
                </a:tc>
                <a:tc>
                  <a:txBody>
                    <a:bodyPr/>
                    <a:lstStyle/>
                    <a:p>
                      <a:pPr algn="l"/>
                      <a:r>
                        <a:rPr sz="1050" b="0">
                          <a:solidFill>
                            <a:srgbClr val="22303F"/>
                          </a:solidFill>
                          <a:latin typeface="Calibri"/>
                        </a:rPr>
                        <a:t>145-day lead · $1.6k fare · $7.9k spend</a:t>
                      </a:r>
                    </a:p>
                  </a:txBody>
                  <a:tcPr marL="54864" marR="36576" marT="18288" marB="18288" anchor="ctr">
                    <a:solidFill>
                      <a:srgbClr val="FFFFFF"/>
                    </a:solidFill>
                  </a:tcPr>
                </a:tc>
                <a:extLst>
                  <a:ext uri="{0D108BD9-81ED-4DB2-BD59-A6C34878D82A}">
                    <a16:rowId xmlns:a16="http://schemas.microsoft.com/office/drawing/2014/main" val="10003"/>
                  </a:ext>
                </a:extLst>
              </a:tr>
              <a:tr h="530352">
                <a:tc>
                  <a:txBody>
                    <a:bodyPr/>
                    <a:lstStyle/>
                    <a:p>
                      <a:pPr algn="l"/>
                      <a:r>
                        <a:rPr sz="1050" b="0">
                          <a:solidFill>
                            <a:srgbClr val="22303F"/>
                          </a:solidFill>
                          <a:latin typeface="Calibri"/>
                        </a:rPr>
                        <a:t>Browse-only</a:t>
                      </a:r>
                    </a:p>
                  </a:txBody>
                  <a:tcPr marL="54864" marR="36576" marT="18288" marB="18288" anchor="ctr">
                    <a:solidFill>
                      <a:srgbClr val="EAF0F6"/>
                    </a:solidFill>
                  </a:tcPr>
                </a:tc>
                <a:tc>
                  <a:txBody>
                    <a:bodyPr/>
                    <a:lstStyle/>
                    <a:p>
                      <a:pPr algn="ctr"/>
                      <a:r>
                        <a:rPr sz="1050" b="0">
                          <a:solidFill>
                            <a:srgbClr val="22303F"/>
                          </a:solidFill>
                          <a:latin typeface="Calibri"/>
                        </a:rPr>
                        <a:t>402</a:t>
                      </a:r>
                    </a:p>
                  </a:txBody>
                  <a:tcPr marL="54864" marR="36576" marT="18288" marB="18288" anchor="ctr">
                    <a:solidFill>
                      <a:srgbClr val="EAF0F6"/>
                    </a:solidFill>
                  </a:tcPr>
                </a:tc>
                <a:tc>
                  <a:txBody>
                    <a:bodyPr/>
                    <a:lstStyle/>
                    <a:p>
                      <a:pPr algn="l"/>
                      <a:r>
                        <a:rPr sz="1050" b="0">
                          <a:solidFill>
                            <a:srgbClr val="22303F"/>
                          </a:solidFill>
                          <a:latin typeface="Calibri"/>
                        </a:rPr>
                        <a:t>0% booking · highest recency</a:t>
                      </a:r>
                    </a:p>
                  </a:txBody>
                  <a:tcPr marL="54864" marR="36576" marT="18288" marB="18288" anchor="ctr">
                    <a:solidFill>
                      <a:srgbClr val="EAF0F6"/>
                    </a:solidFill>
                  </a:tcPr>
                </a:tc>
                <a:extLst>
                  <a:ext uri="{0D108BD9-81ED-4DB2-BD59-A6C34878D82A}">
                    <a16:rowId xmlns:a16="http://schemas.microsoft.com/office/drawing/2014/main" val="10004"/>
                  </a:ext>
                </a:extLst>
              </a:tr>
              <a:tr h="530352">
                <a:tc>
                  <a:txBody>
                    <a:bodyPr/>
                    <a:lstStyle/>
                    <a:p>
                      <a:pPr algn="l"/>
                      <a:r>
                        <a:rPr sz="1050" b="0">
                          <a:solidFill>
                            <a:srgbClr val="22303F"/>
                          </a:solidFill>
                          <a:latin typeface="Calibri"/>
                        </a:rPr>
                        <a:t>Intl long-stay hotel</a:t>
                      </a:r>
                    </a:p>
                  </a:txBody>
                  <a:tcPr marL="54864" marR="36576" marT="18288" marB="18288" anchor="ctr">
                    <a:solidFill>
                      <a:srgbClr val="FFFFFF"/>
                    </a:solidFill>
                  </a:tcPr>
                </a:tc>
                <a:tc>
                  <a:txBody>
                    <a:bodyPr/>
                    <a:lstStyle/>
                    <a:p>
                      <a:pPr algn="ctr"/>
                      <a:r>
                        <a:rPr sz="1050" b="0">
                          <a:solidFill>
                            <a:srgbClr val="22303F"/>
                          </a:solidFill>
                          <a:latin typeface="Calibri"/>
                        </a:rPr>
                        <a:t>306</a:t>
                      </a:r>
                    </a:p>
                  </a:txBody>
                  <a:tcPr marL="54864" marR="36576" marT="18288" marB="18288" anchor="ctr">
                    <a:solidFill>
                      <a:srgbClr val="FFFFFF"/>
                    </a:solidFill>
                  </a:tcPr>
                </a:tc>
                <a:tc>
                  <a:txBody>
                    <a:bodyPr/>
                    <a:lstStyle/>
                    <a:p>
                      <a:pPr algn="l"/>
                      <a:r>
                        <a:rPr sz="1050" b="0">
                          <a:solidFill>
                            <a:srgbClr val="22303F"/>
                          </a:solidFill>
                          <a:latin typeface="Calibri"/>
                        </a:rPr>
                        <a:t>100% intl · 7.9 nights · no flights</a:t>
                      </a:r>
                    </a:p>
                  </a:txBody>
                  <a:tcPr marL="54864" marR="36576" marT="18288" marB="18288" anchor="ctr">
                    <a:solidFill>
                      <a:srgbClr val="FFFFFF"/>
                    </a:solidFill>
                  </a:tcPr>
                </a:tc>
                <a:extLst>
                  <a:ext uri="{0D108BD9-81ED-4DB2-BD59-A6C34878D82A}">
                    <a16:rowId xmlns:a16="http://schemas.microsoft.com/office/drawing/2014/main" val="10005"/>
                  </a:ext>
                </a:extLst>
              </a:tr>
              <a:tr h="530352">
                <a:tc>
                  <a:txBody>
                    <a:bodyPr/>
                    <a:lstStyle/>
                    <a:p>
                      <a:pPr algn="l"/>
                      <a:r>
                        <a:rPr sz="1050" b="0">
                          <a:solidFill>
                            <a:srgbClr val="22303F"/>
                          </a:solidFill>
                          <a:latin typeface="Calibri"/>
                        </a:rPr>
                        <a:t>Budget hunters</a:t>
                      </a:r>
                    </a:p>
                  </a:txBody>
                  <a:tcPr marL="54864" marR="36576" marT="18288" marB="18288" anchor="ctr">
                    <a:solidFill>
                      <a:srgbClr val="EAF0F6"/>
                    </a:solidFill>
                  </a:tcPr>
                </a:tc>
                <a:tc>
                  <a:txBody>
                    <a:bodyPr/>
                    <a:lstStyle/>
                    <a:p>
                      <a:pPr algn="ctr"/>
                      <a:r>
                        <a:rPr sz="1050" b="0">
                          <a:solidFill>
                            <a:srgbClr val="22303F"/>
                          </a:solidFill>
                          <a:latin typeface="Calibri"/>
                        </a:rPr>
                        <a:t>272</a:t>
                      </a:r>
                    </a:p>
                  </a:txBody>
                  <a:tcPr marL="54864" marR="36576" marT="18288" marB="18288" anchor="ctr">
                    <a:solidFill>
                      <a:srgbClr val="EAF0F6"/>
                    </a:solidFill>
                  </a:tcPr>
                </a:tc>
                <a:tc>
                  <a:txBody>
                    <a:bodyPr/>
                    <a:lstStyle/>
                    <a:p>
                      <a:pPr algn="l"/>
                      <a:r>
                        <a:rPr sz="1050" b="0">
                          <a:solidFill>
                            <a:srgbClr val="22303F"/>
                          </a:solidFill>
                          <a:latin typeface="Calibri"/>
                        </a:rPr>
                        <a:t>43 clicks · 30% disc · 12% cancel</a:t>
                      </a:r>
                    </a:p>
                  </a:txBody>
                  <a:tcPr marL="54864" marR="36576" marT="18288" marB="18288" anchor="ctr">
                    <a:solidFill>
                      <a:srgbClr val="EAF0F6"/>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897880" y="5440680"/>
            <a:ext cx="5760720" cy="640080"/>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Validation: </a:t>
            </a:r>
            <a:r>
              <a:rPr sz="1150" b="0" i="1">
                <a:solidFill>
                  <a:srgbClr val="6B7685"/>
                </a:solidFill>
                <a:latin typeface="Calibri"/>
              </a:rPr>
              <a:t>the four niches are genuinely distinct (silhouette 0.50); the mainstream split is a deliberate business call.</a:t>
            </a:r>
          </a:p>
        </p:txBody>
      </p:sp>
      <p:sp>
        <p:nvSpPr>
          <p:cNvPr id="10" name="TextBox 9"/>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11" name="TextBox 10"/>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dirty="0">
                <a:solidFill>
                  <a:srgbClr val="8A94A6"/>
                </a:solidFill>
                <a:latin typeface="Calibri"/>
              </a:rPr>
              <a:t>1</a:t>
            </a:r>
            <a:r>
              <a:rPr lang="en-US" sz="900" b="0" i="0" dirty="0">
                <a:solidFill>
                  <a:srgbClr val="8A94A6"/>
                </a:solidFill>
                <a:latin typeface="Calibri"/>
              </a:rPr>
              <a:t>7</a:t>
            </a:r>
            <a:endParaRPr sz="900" b="0" i="0" dirty="0">
              <a:solidFill>
                <a:srgbClr val="8A94A6"/>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THE PERKS</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Match the reward to the behaviour and the churn risk</a:t>
            </a:r>
          </a:p>
        </p:txBody>
      </p:sp>
      <p:graphicFrame>
        <p:nvGraphicFramePr>
          <p:cNvPr id="6" name="Table 5"/>
          <p:cNvGraphicFramePr>
            <a:graphicFrameLocks noGrp="1"/>
          </p:cNvGraphicFramePr>
          <p:nvPr/>
        </p:nvGraphicFramePr>
        <p:xfrm>
          <a:off x="502920" y="1572768"/>
          <a:ext cx="11201400" cy="3968496"/>
        </p:xfrm>
        <a:graphic>
          <a:graphicData uri="http://schemas.openxmlformats.org/drawingml/2006/table">
            <a:tbl>
              <a:tblPr firstRow="1">
                <a:tableStyleId>{5C22544A-7EE6-4342-B048-85BDC9FD1C3A}</a:tableStyleId>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33900">
                  <a:extLst>
                    <a:ext uri="{9D8B030D-6E8A-4147-A177-3AD203B41FA5}">
                      <a16:colId xmlns:a16="http://schemas.microsoft.com/office/drawing/2014/main" val="20002"/>
                    </a:ext>
                  </a:extLst>
                </a:gridCol>
              </a:tblGrid>
              <a:tr h="566928">
                <a:tc>
                  <a:txBody>
                    <a:bodyPr/>
                    <a:lstStyle/>
                    <a:p>
                      <a:pPr algn="l"/>
                      <a:r>
                        <a:rPr sz="1200" b="1">
                          <a:solidFill>
                            <a:srgbClr val="FFFFFF"/>
                          </a:solidFill>
                          <a:latin typeface="Calibri"/>
                        </a:rPr>
                        <a:t>Segment</a:t>
                      </a:r>
                    </a:p>
                  </a:txBody>
                  <a:tcPr marL="54864" marR="36576" marT="18288" marB="18288" anchor="ctr">
                    <a:solidFill>
                      <a:srgbClr val="1F3A5F"/>
                    </a:solidFill>
                  </a:tcPr>
                </a:tc>
                <a:tc>
                  <a:txBody>
                    <a:bodyPr/>
                    <a:lstStyle/>
                    <a:p>
                      <a:pPr algn="l"/>
                      <a:r>
                        <a:rPr sz="1200" b="1">
                          <a:solidFill>
                            <a:srgbClr val="FFFFFF"/>
                          </a:solidFill>
                          <a:latin typeface="Calibri"/>
                        </a:rPr>
                        <a:t>Headline perk</a:t>
                      </a:r>
                    </a:p>
                  </a:txBody>
                  <a:tcPr marL="54864" marR="36576" marT="18288" marB="18288" anchor="ctr">
                    <a:solidFill>
                      <a:srgbClr val="1F3A5F"/>
                    </a:solidFill>
                  </a:tcPr>
                </a:tc>
                <a:tc>
                  <a:txBody>
                    <a:bodyPr/>
                    <a:lstStyle/>
                    <a:p>
                      <a:pPr algn="l"/>
                      <a:r>
                        <a:rPr sz="1200" b="1">
                          <a:solidFill>
                            <a:srgbClr val="FFFFFF"/>
                          </a:solidFill>
                          <a:latin typeface="Calibri"/>
                        </a:rPr>
                        <a:t>Why it retains</a:t>
                      </a:r>
                    </a:p>
                  </a:txBody>
                  <a:tcPr marL="54864" marR="36576" marT="18288" marB="18288" anchor="ctr">
                    <a:solidFill>
                      <a:srgbClr val="1F3A5F"/>
                    </a:solidFill>
                  </a:tcPr>
                </a:tc>
                <a:extLst>
                  <a:ext uri="{0D108BD9-81ED-4DB2-BD59-A6C34878D82A}">
                    <a16:rowId xmlns:a16="http://schemas.microsoft.com/office/drawing/2014/main" val="10000"/>
                  </a:ext>
                </a:extLst>
              </a:tr>
              <a:tr h="566928">
                <a:tc>
                  <a:txBody>
                    <a:bodyPr/>
                    <a:lstStyle/>
                    <a:p>
                      <a:pPr algn="l"/>
                      <a:r>
                        <a:rPr sz="1150" b="0">
                          <a:solidFill>
                            <a:srgbClr val="22303F"/>
                          </a:solidFill>
                          <a:latin typeface="Calibri"/>
                        </a:rPr>
                        <a:t>Engaged mainstream</a:t>
                      </a:r>
                    </a:p>
                  </a:txBody>
                  <a:tcPr marL="54864" marR="36576" marT="18288" marB="18288" anchor="ctr">
                    <a:solidFill>
                      <a:srgbClr val="FFFFFF"/>
                    </a:solidFill>
                  </a:tcPr>
                </a:tc>
                <a:tc>
                  <a:txBody>
                    <a:bodyPr/>
                    <a:lstStyle/>
                    <a:p>
                      <a:pPr algn="l"/>
                      <a:r>
                        <a:rPr sz="1150" b="0">
                          <a:solidFill>
                            <a:srgbClr val="22303F"/>
                          </a:solidFill>
                          <a:latin typeface="Calibri"/>
                        </a:rPr>
                        <a:t>Loyalty points + bundle free-night + free bag</a:t>
                      </a:r>
                    </a:p>
                  </a:txBody>
                  <a:tcPr marL="54864" marR="36576" marT="18288" marB="18288" anchor="ctr">
                    <a:solidFill>
                      <a:srgbClr val="FFFFFF"/>
                    </a:solidFill>
                  </a:tcPr>
                </a:tc>
                <a:tc>
                  <a:txBody>
                    <a:bodyPr/>
                    <a:lstStyle/>
                    <a:p>
                      <a:pPr algn="l"/>
                      <a:r>
                        <a:rPr sz="1150" b="0">
                          <a:solidFill>
                            <a:srgbClr val="22303F"/>
                          </a:solidFill>
                          <a:latin typeface="Calibri"/>
                        </a:rPr>
                        <a:t>Forfeitable value locks in unattached frequent bookers</a:t>
                      </a:r>
                    </a:p>
                  </a:txBody>
                  <a:tcPr marL="54864" marR="36576" marT="18288" marB="18288" anchor="ctr">
                    <a:solidFill>
                      <a:srgbClr val="FFFFFF"/>
                    </a:solidFill>
                  </a:tcPr>
                </a:tc>
                <a:extLst>
                  <a:ext uri="{0D108BD9-81ED-4DB2-BD59-A6C34878D82A}">
                    <a16:rowId xmlns:a16="http://schemas.microsoft.com/office/drawing/2014/main" val="10001"/>
                  </a:ext>
                </a:extLst>
              </a:tr>
              <a:tr h="566928">
                <a:tc>
                  <a:txBody>
                    <a:bodyPr/>
                    <a:lstStyle/>
                    <a:p>
                      <a:pPr algn="l"/>
                      <a:r>
                        <a:rPr sz="1150" b="0">
                          <a:solidFill>
                            <a:srgbClr val="22303F"/>
                          </a:solidFill>
                          <a:latin typeface="Calibri"/>
                        </a:rPr>
                        <a:t>Light / occasional</a:t>
                      </a:r>
                    </a:p>
                  </a:txBody>
                  <a:tcPr marL="54864" marR="36576" marT="18288" marB="18288" anchor="ctr">
                    <a:solidFill>
                      <a:srgbClr val="EAF0F6"/>
                    </a:solidFill>
                  </a:tcPr>
                </a:tc>
                <a:tc>
                  <a:txBody>
                    <a:bodyPr/>
                    <a:lstStyle/>
                    <a:p>
                      <a:pPr algn="l"/>
                      <a:r>
                        <a:rPr sz="1150" b="0">
                          <a:solidFill>
                            <a:srgbClr val="22303F"/>
                          </a:solidFill>
                          <a:latin typeface="Calibri"/>
                        </a:rPr>
                        <a:t>Time-limited comeback offer + small sweetener</a:t>
                      </a:r>
                    </a:p>
                  </a:txBody>
                  <a:tcPr marL="54864" marR="36576" marT="18288" marB="18288" anchor="ctr">
                    <a:solidFill>
                      <a:srgbClr val="EAF0F6"/>
                    </a:solidFill>
                  </a:tcPr>
                </a:tc>
                <a:tc>
                  <a:txBody>
                    <a:bodyPr/>
                    <a:lstStyle/>
                    <a:p>
                      <a:pPr algn="l"/>
                      <a:r>
                        <a:rPr sz="1150" b="0">
                          <a:solidFill>
                            <a:srgbClr val="22303F"/>
                          </a:solidFill>
                          <a:latin typeface="Calibri"/>
                        </a:rPr>
                        <a:t>Urgency shortens the gap; graduate them upward</a:t>
                      </a:r>
                    </a:p>
                  </a:txBody>
                  <a:tcPr marL="54864" marR="36576" marT="18288" marB="18288" anchor="ctr">
                    <a:solidFill>
                      <a:srgbClr val="EAF0F6"/>
                    </a:solidFill>
                  </a:tcPr>
                </a:tc>
                <a:extLst>
                  <a:ext uri="{0D108BD9-81ED-4DB2-BD59-A6C34878D82A}">
                    <a16:rowId xmlns:a16="http://schemas.microsoft.com/office/drawing/2014/main" val="10002"/>
                  </a:ext>
                </a:extLst>
              </a:tr>
              <a:tr h="566928">
                <a:tc>
                  <a:txBody>
                    <a:bodyPr/>
                    <a:lstStyle/>
                    <a:p>
                      <a:pPr algn="l"/>
                      <a:r>
                        <a:rPr sz="1150" b="0">
                          <a:solidFill>
                            <a:srgbClr val="22303F"/>
                          </a:solidFill>
                          <a:latin typeface="Calibri"/>
                        </a:rPr>
                        <a:t>Premium planners</a:t>
                      </a:r>
                    </a:p>
                  </a:txBody>
                  <a:tcPr marL="54864" marR="36576" marT="18288" marB="18288" anchor="ctr">
                    <a:solidFill>
                      <a:srgbClr val="FFFFFF"/>
                    </a:solidFill>
                  </a:tcPr>
                </a:tc>
                <a:tc>
                  <a:txBody>
                    <a:bodyPr/>
                    <a:lstStyle/>
                    <a:p>
                      <a:pPr algn="l"/>
                      <a:r>
                        <a:rPr sz="1150" b="0">
                          <a:solidFill>
                            <a:srgbClr val="22303F"/>
                          </a:solidFill>
                          <a:latin typeface="Calibri"/>
                        </a:rPr>
                        <a:t>No cancellation fees + premium service</a:t>
                      </a:r>
                    </a:p>
                  </a:txBody>
                  <a:tcPr marL="54864" marR="36576" marT="18288" marB="18288" anchor="ctr">
                    <a:solidFill>
                      <a:srgbClr val="FFFFFF"/>
                    </a:solidFill>
                  </a:tcPr>
                </a:tc>
                <a:tc>
                  <a:txBody>
                    <a:bodyPr/>
                    <a:lstStyle/>
                    <a:p>
                      <a:pPr algn="l"/>
                      <a:r>
                        <a:rPr sz="1150" b="0">
                          <a:solidFill>
                            <a:srgbClr val="22303F"/>
                          </a:solidFill>
                          <a:latin typeface="Calibri"/>
                        </a:rPr>
                        <a:t>Flexibility kills 145-day-lead risk; status loyalty</a:t>
                      </a:r>
                    </a:p>
                  </a:txBody>
                  <a:tcPr marL="54864" marR="36576" marT="18288" marB="18288" anchor="ctr">
                    <a:solidFill>
                      <a:srgbClr val="FFFFFF"/>
                    </a:solidFill>
                  </a:tcPr>
                </a:tc>
                <a:extLst>
                  <a:ext uri="{0D108BD9-81ED-4DB2-BD59-A6C34878D82A}">
                    <a16:rowId xmlns:a16="http://schemas.microsoft.com/office/drawing/2014/main" val="10003"/>
                  </a:ext>
                </a:extLst>
              </a:tr>
              <a:tr h="566928">
                <a:tc>
                  <a:txBody>
                    <a:bodyPr/>
                    <a:lstStyle/>
                    <a:p>
                      <a:pPr algn="l"/>
                      <a:r>
                        <a:rPr sz="1150" b="0">
                          <a:solidFill>
                            <a:srgbClr val="22303F"/>
                          </a:solidFill>
                          <a:latin typeface="Calibri"/>
                        </a:rPr>
                        <a:t>Browse-only</a:t>
                      </a:r>
                    </a:p>
                  </a:txBody>
                  <a:tcPr marL="54864" marR="36576" marT="18288" marB="18288" anchor="ctr">
                    <a:solidFill>
                      <a:srgbClr val="EAF0F6"/>
                    </a:solidFill>
                  </a:tcPr>
                </a:tc>
                <a:tc>
                  <a:txBody>
                    <a:bodyPr/>
                    <a:lstStyle/>
                    <a:p>
                      <a:pPr algn="l"/>
                      <a:r>
                        <a:rPr sz="1150" b="0">
                          <a:solidFill>
                            <a:srgbClr val="22303F"/>
                          </a:solidFill>
                          <a:latin typeface="Calibri"/>
                        </a:rPr>
                        <a:t>Bold first-booking offer + risk removal</a:t>
                      </a:r>
                    </a:p>
                  </a:txBody>
                  <a:tcPr marL="54864" marR="36576" marT="18288" marB="18288" anchor="ctr">
                    <a:solidFill>
                      <a:srgbClr val="EAF0F6"/>
                    </a:solidFill>
                  </a:tcPr>
                </a:tc>
                <a:tc>
                  <a:txBody>
                    <a:bodyPr/>
                    <a:lstStyle/>
                    <a:p>
                      <a:pPr algn="l"/>
                      <a:r>
                        <a:rPr sz="1150" b="0">
                          <a:solidFill>
                            <a:srgbClr val="22303F"/>
                          </a:solidFill>
                          <a:latin typeface="Calibri"/>
                        </a:rPr>
                        <a:t>Lower the activation barrier (capped test budget)</a:t>
                      </a:r>
                    </a:p>
                  </a:txBody>
                  <a:tcPr marL="54864" marR="36576" marT="18288" marB="18288" anchor="ctr">
                    <a:solidFill>
                      <a:srgbClr val="EAF0F6"/>
                    </a:solidFill>
                  </a:tcPr>
                </a:tc>
                <a:extLst>
                  <a:ext uri="{0D108BD9-81ED-4DB2-BD59-A6C34878D82A}">
                    <a16:rowId xmlns:a16="http://schemas.microsoft.com/office/drawing/2014/main" val="10004"/>
                  </a:ext>
                </a:extLst>
              </a:tr>
              <a:tr h="566928">
                <a:tc>
                  <a:txBody>
                    <a:bodyPr/>
                    <a:lstStyle/>
                    <a:p>
                      <a:pPr algn="l"/>
                      <a:r>
                        <a:rPr sz="1150" b="0">
                          <a:solidFill>
                            <a:srgbClr val="22303F"/>
                          </a:solidFill>
                          <a:latin typeface="Calibri"/>
                        </a:rPr>
                        <a:t>Intl long-stay hotel</a:t>
                      </a:r>
                    </a:p>
                  </a:txBody>
                  <a:tcPr marL="54864" marR="36576" marT="18288" marB="18288" anchor="ctr">
                    <a:solidFill>
                      <a:srgbClr val="FFFFFF"/>
                    </a:solidFill>
                  </a:tcPr>
                </a:tc>
                <a:tc>
                  <a:txBody>
                    <a:bodyPr/>
                    <a:lstStyle/>
                    <a:p>
                      <a:pPr algn="l"/>
                      <a:r>
                        <a:rPr sz="1150" b="0">
                          <a:solidFill>
                            <a:srgbClr val="22303F"/>
                          </a:solidFill>
                          <a:latin typeface="Calibri"/>
                        </a:rPr>
                        <a:t>Bundle free-night to win the flight leg</a:t>
                      </a:r>
                    </a:p>
                  </a:txBody>
                  <a:tcPr marL="54864" marR="36576" marT="18288" marB="18288" anchor="ctr">
                    <a:solidFill>
                      <a:srgbClr val="FFFFFF"/>
                    </a:solidFill>
                  </a:tcPr>
                </a:tc>
                <a:tc>
                  <a:txBody>
                    <a:bodyPr/>
                    <a:lstStyle/>
                    <a:p>
                      <a:pPr algn="l"/>
                      <a:r>
                        <a:rPr sz="1150" b="0">
                          <a:solidFill>
                            <a:srgbClr val="22303F"/>
                          </a:solidFill>
                          <a:latin typeface="Calibri"/>
                        </a:rPr>
                        <a:t>Capture share-of-wallet → full-itinerary customer</a:t>
                      </a:r>
                    </a:p>
                  </a:txBody>
                  <a:tcPr marL="54864" marR="36576" marT="18288" marB="18288" anchor="ctr">
                    <a:solidFill>
                      <a:srgbClr val="FFFFFF"/>
                    </a:solidFill>
                  </a:tcPr>
                </a:tc>
                <a:extLst>
                  <a:ext uri="{0D108BD9-81ED-4DB2-BD59-A6C34878D82A}">
                    <a16:rowId xmlns:a16="http://schemas.microsoft.com/office/drawing/2014/main" val="10005"/>
                  </a:ext>
                </a:extLst>
              </a:tr>
              <a:tr h="566928">
                <a:tc>
                  <a:txBody>
                    <a:bodyPr/>
                    <a:lstStyle/>
                    <a:p>
                      <a:pPr algn="l"/>
                      <a:r>
                        <a:rPr sz="1150" b="0">
                          <a:solidFill>
                            <a:srgbClr val="22303F"/>
                          </a:solidFill>
                          <a:latin typeface="Calibri"/>
                        </a:rPr>
                        <a:t>Budget hunters</a:t>
                      </a:r>
                    </a:p>
                  </a:txBody>
                  <a:tcPr marL="54864" marR="36576" marT="18288" marB="18288" anchor="ctr">
                    <a:solidFill>
                      <a:srgbClr val="EAF0F6"/>
                    </a:solidFill>
                  </a:tcPr>
                </a:tc>
                <a:tc>
                  <a:txBody>
                    <a:bodyPr/>
                    <a:lstStyle/>
                    <a:p>
                      <a:pPr algn="l"/>
                      <a:r>
                        <a:rPr sz="1150" b="0">
                          <a:solidFill>
                            <a:srgbClr val="22303F"/>
                          </a:solidFill>
                          <a:latin typeface="Calibri"/>
                        </a:rPr>
                        <a:t>Members-only deals + reward completed trips</a:t>
                      </a:r>
                    </a:p>
                  </a:txBody>
                  <a:tcPr marL="54864" marR="36576" marT="18288" marB="18288" anchor="ctr">
                    <a:solidFill>
                      <a:srgbClr val="EAF0F6"/>
                    </a:solidFill>
                  </a:tcPr>
                </a:tc>
                <a:tc>
                  <a:txBody>
                    <a:bodyPr/>
                    <a:lstStyle/>
                    <a:p>
                      <a:pPr algn="l"/>
                      <a:r>
                        <a:rPr sz="1150" b="0">
                          <a:solidFill>
                            <a:srgbClr val="22303F"/>
                          </a:solidFill>
                          <a:latin typeface="Calibri"/>
                        </a:rPr>
                        <a:t>Win the price comparison; curb cancellations</a:t>
                      </a:r>
                    </a:p>
                  </a:txBody>
                  <a:tcPr marL="54864" marR="36576" marT="18288" marB="18288" anchor="ctr">
                    <a:solidFill>
                      <a:srgbClr val="EAF0F6"/>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02920" y="5897880"/>
            <a:ext cx="11155680"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300" b="1" i="0">
                <a:solidFill>
                  <a:srgbClr val="E8743B"/>
                </a:solidFill>
                <a:latin typeface="Calibri"/>
              </a:rPr>
              <a:t>Principle: </a:t>
            </a:r>
            <a:r>
              <a:rPr sz="1250" b="0" i="0">
                <a:solidFill>
                  <a:srgbClr val="22303F"/>
                </a:solidFill>
                <a:latin typeface="Calibri"/>
              </a:rPr>
              <a:t>price-insensitive segments get service &amp; flexibility; price-driven segments get deals; unproven segments get low-cost, time-boxed offers.</a:t>
            </a:r>
          </a:p>
        </p:txBody>
      </p:sp>
      <p:sp>
        <p:nvSpPr>
          <p:cNvPr id="8" name="TextBox 7"/>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9" name="TextBox 8"/>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dirty="0">
                <a:solidFill>
                  <a:srgbClr val="8A94A6"/>
                </a:solidFill>
                <a:latin typeface="Calibri"/>
              </a:rPr>
              <a:t>1</a:t>
            </a:r>
            <a:r>
              <a:rPr lang="en-US" sz="900" b="0" i="0" dirty="0">
                <a:solidFill>
                  <a:srgbClr val="8A94A6"/>
                </a:solidFill>
                <a:latin typeface="Calibri"/>
              </a:rPr>
              <a:t>8</a:t>
            </a:r>
            <a:endParaRPr sz="900" b="0" i="0" dirty="0">
              <a:solidFill>
                <a:srgbClr val="8A94A6"/>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NEXT STEP · MEASUREMENT</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Next: define one metric that tells us if the perks actually retain</a:t>
            </a:r>
          </a:p>
        </p:txBody>
      </p:sp>
      <p:sp>
        <p:nvSpPr>
          <p:cNvPr id="6" name="Rectangle 5"/>
          <p:cNvSpPr/>
          <p:nvPr/>
        </p:nvSpPr>
        <p:spPr>
          <a:xfrm>
            <a:off x="502920" y="1463040"/>
            <a:ext cx="6035040" cy="416052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64208"/>
            <a:ext cx="54864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1150" b="1" i="0">
                <a:solidFill>
                  <a:srgbClr val="2A9D8F"/>
                </a:solidFill>
                <a:latin typeface="Calibri"/>
              </a:rPr>
              <a:t>PROPOSED PRIMARY METRIC</a:t>
            </a:r>
          </a:p>
        </p:txBody>
      </p:sp>
      <p:sp>
        <p:nvSpPr>
          <p:cNvPr id="8" name="TextBox 7"/>
          <p:cNvSpPr txBox="1"/>
          <p:nvPr/>
        </p:nvSpPr>
        <p:spPr>
          <a:xfrm>
            <a:off x="777240" y="1993392"/>
            <a:ext cx="5577840" cy="640080"/>
          </a:xfrm>
          <a:prstGeom prst="rect">
            <a:avLst/>
          </a:prstGeom>
          <a:noFill/>
        </p:spPr>
        <p:txBody>
          <a:bodyPr wrap="square" lIns="45720" tIns="0" rIns="45720" bIns="0" anchor="t">
            <a:spAutoFit/>
          </a:bodyPr>
          <a:lstStyle/>
          <a:p>
            <a:pPr algn="l">
              <a:lnSpc>
                <a:spcPct val="100000"/>
              </a:lnSpc>
              <a:spcBef>
                <a:spcPts val="0"/>
              </a:spcBef>
              <a:spcAft>
                <a:spcPts val="400"/>
              </a:spcAft>
            </a:pPr>
            <a:r>
              <a:rPr sz="2600" b="1" i="0">
                <a:solidFill>
                  <a:srgbClr val="1F3A5F"/>
                </a:solidFill>
                <a:latin typeface="Calibri"/>
              </a:rPr>
              <a:t>Repeat-Booking Rate (RBR-90)</a:t>
            </a:r>
          </a:p>
        </p:txBody>
      </p:sp>
      <p:sp>
        <p:nvSpPr>
          <p:cNvPr id="9" name="TextBox 8"/>
          <p:cNvSpPr txBox="1"/>
          <p:nvPr/>
        </p:nvSpPr>
        <p:spPr>
          <a:xfrm>
            <a:off x="777240" y="2761488"/>
            <a:ext cx="5486400" cy="822960"/>
          </a:xfrm>
          <a:prstGeom prst="rect">
            <a:avLst/>
          </a:prstGeom>
          <a:noFill/>
        </p:spPr>
        <p:txBody>
          <a:bodyPr wrap="square" lIns="45720" tIns="0" rIns="45720" bIns="0" anchor="t">
            <a:spAutoFit/>
          </a:bodyPr>
          <a:lstStyle/>
          <a:p>
            <a:pPr algn="l">
              <a:lnSpc>
                <a:spcPct val="110000"/>
              </a:lnSpc>
              <a:spcBef>
                <a:spcPts val="0"/>
              </a:spcBef>
              <a:spcAft>
                <a:spcPts val="400"/>
              </a:spcAft>
            </a:pPr>
            <a:r>
              <a:rPr sz="1400" b="0" i="0">
                <a:solidFill>
                  <a:srgbClr val="22303F"/>
                </a:solidFill>
                <a:latin typeface="Calibri"/>
              </a:rPr>
              <a:t>The share of a segment that makes at least one </a:t>
            </a:r>
            <a:r>
              <a:rPr sz="1400" b="1" i="0">
                <a:solidFill>
                  <a:srgbClr val="1F3A5F"/>
                </a:solidFill>
                <a:latin typeface="Calibri"/>
              </a:rPr>
              <a:t>completed (non-cancelled)</a:t>
            </a:r>
            <a:r>
              <a:rPr sz="1400" b="0" i="0">
                <a:solidFill>
                  <a:srgbClr val="22303F"/>
                </a:solidFill>
                <a:latin typeface="Calibri"/>
              </a:rPr>
              <a:t> booking within 90 days.</a:t>
            </a:r>
          </a:p>
        </p:txBody>
      </p:sp>
      <p:sp>
        <p:nvSpPr>
          <p:cNvPr id="10" name="Rectangle 9"/>
          <p:cNvSpPr/>
          <p:nvPr/>
        </p:nvSpPr>
        <p:spPr>
          <a:xfrm>
            <a:off x="777240" y="3977639"/>
            <a:ext cx="5486400" cy="71323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4234227"/>
            <a:ext cx="5486400" cy="200055"/>
          </a:xfrm>
          <a:prstGeom prst="rect">
            <a:avLst/>
          </a:prstGeom>
          <a:noFill/>
        </p:spPr>
        <p:txBody>
          <a:bodyPr wrap="square" lIns="45720" tIns="0" rIns="45720" bIns="0" anchor="ctr">
            <a:spAutoFit/>
          </a:bodyPr>
          <a:lstStyle/>
          <a:p>
            <a:pPr algn="ctr">
              <a:lnSpc>
                <a:spcPct val="100000"/>
              </a:lnSpc>
              <a:spcBef>
                <a:spcPts val="0"/>
              </a:spcBef>
              <a:spcAft>
                <a:spcPts val="400"/>
              </a:spcAft>
            </a:pPr>
            <a:r>
              <a:rPr sz="1300" b="1" i="0" dirty="0">
                <a:solidFill>
                  <a:srgbClr val="1F3A5F"/>
                </a:solidFill>
                <a:latin typeface="Calibri"/>
              </a:rPr>
              <a:t>Perk launch  ──────  90-day window  ──────  booked again?</a:t>
            </a:r>
          </a:p>
        </p:txBody>
      </p:sp>
      <p:sp>
        <p:nvSpPr>
          <p:cNvPr id="12" name="TextBox 11"/>
          <p:cNvSpPr txBox="1"/>
          <p:nvPr/>
        </p:nvSpPr>
        <p:spPr>
          <a:xfrm>
            <a:off x="777240" y="4846320"/>
            <a:ext cx="5486400" cy="548640"/>
          </a:xfrm>
          <a:prstGeom prst="rect">
            <a:avLst/>
          </a:prstGeom>
          <a:noFill/>
        </p:spPr>
        <p:txBody>
          <a:bodyPr wrap="square" lIns="45720" tIns="0" rIns="45720" bIns="0" anchor="t">
            <a:spAutoFit/>
          </a:bodyPr>
          <a:lstStyle/>
          <a:p>
            <a:pPr algn="l">
              <a:lnSpc>
                <a:spcPct val="100000"/>
              </a:lnSpc>
              <a:spcBef>
                <a:spcPts val="0"/>
              </a:spcBef>
              <a:spcAft>
                <a:spcPts val="400"/>
              </a:spcAft>
            </a:pPr>
            <a:r>
              <a:rPr sz="1150" b="0" i="1">
                <a:solidFill>
                  <a:srgbClr val="6B7685"/>
                </a:solidFill>
                <a:latin typeface="Calibri"/>
              </a:rPr>
              <a:t>One definition, two uses: profile each segment today, then re-measure after launch.</a:t>
            </a:r>
          </a:p>
        </p:txBody>
      </p:sp>
      <p:sp>
        <p:nvSpPr>
          <p:cNvPr id="13" name="TextBox 12"/>
          <p:cNvSpPr txBox="1"/>
          <p:nvPr/>
        </p:nvSpPr>
        <p:spPr>
          <a:xfrm>
            <a:off x="6858000" y="1554480"/>
            <a:ext cx="484632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WHY THIS METRIC</a:t>
            </a:r>
          </a:p>
        </p:txBody>
      </p:sp>
      <p:sp>
        <p:nvSpPr>
          <p:cNvPr id="14" name="Rectangle 13"/>
          <p:cNvSpPr/>
          <p:nvPr/>
        </p:nvSpPr>
        <p:spPr>
          <a:xfrm>
            <a:off x="6858000" y="1874519"/>
            <a:ext cx="502920" cy="411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0" y="2011680"/>
            <a:ext cx="4892040" cy="3657600"/>
          </a:xfrm>
          <a:prstGeom prst="rect">
            <a:avLst/>
          </a:prstGeom>
          <a:noFill/>
        </p:spPr>
        <p:txBody>
          <a:bodyPr wrap="square" lIns="45720" tIns="0" rIns="45720">
            <a:spAutoFit/>
          </a:bodyPr>
          <a:lstStyle/>
          <a:p>
            <a:pPr>
              <a:lnSpc>
                <a:spcPct val="105000"/>
              </a:lnSpc>
              <a:spcBef>
                <a:spcPts val="0"/>
              </a:spcBef>
              <a:spcAft>
                <a:spcPts val="1100"/>
              </a:spcAft>
            </a:pPr>
            <a:r>
              <a:rPr sz="1350" b="1">
                <a:solidFill>
                  <a:srgbClr val="E8743B"/>
                </a:solidFill>
                <a:latin typeface="Calibri"/>
              </a:rPr>
              <a:t>▪  </a:t>
            </a:r>
            <a:r>
              <a:rPr sz="1350" b="1">
                <a:solidFill>
                  <a:srgbClr val="22303F"/>
                </a:solidFill>
                <a:latin typeface="Calibri"/>
              </a:rPr>
              <a:t>The goal made measurable — repeat, revenue-earning bookings, as one number that is comparable across all six segments.</a:t>
            </a:r>
          </a:p>
          <a:p>
            <a:pPr>
              <a:lnSpc>
                <a:spcPct val="105000"/>
              </a:lnSpc>
              <a:spcBef>
                <a:spcPts val="0"/>
              </a:spcBef>
              <a:spcAft>
                <a:spcPts val="1100"/>
              </a:spcAft>
            </a:pPr>
            <a:r>
              <a:rPr sz="1350" b="1">
                <a:solidFill>
                  <a:srgbClr val="E8743B"/>
                </a:solidFill>
                <a:latin typeface="Calibri"/>
              </a:rPr>
              <a:t>▪  </a:t>
            </a:r>
            <a:r>
              <a:rPr sz="1350" b="0">
                <a:solidFill>
                  <a:srgbClr val="22303F"/>
                </a:solidFill>
                <a:latin typeface="Calibri"/>
              </a:rPr>
              <a:t>Completed bookings only, so we never reward speculative bookings that get cancelled.</a:t>
            </a:r>
          </a:p>
          <a:p>
            <a:pPr>
              <a:lnSpc>
                <a:spcPct val="105000"/>
              </a:lnSpc>
              <a:spcBef>
                <a:spcPts val="0"/>
              </a:spcBef>
              <a:spcAft>
                <a:spcPts val="1100"/>
              </a:spcAft>
            </a:pPr>
            <a:r>
              <a:rPr sz="1350" b="1">
                <a:solidFill>
                  <a:srgbClr val="E8743B"/>
                </a:solidFill>
                <a:latin typeface="Calibri"/>
              </a:rPr>
              <a:t>▪  </a:t>
            </a:r>
            <a:r>
              <a:rPr sz="1350" b="0">
                <a:solidFill>
                  <a:srgbClr val="22303F"/>
                </a:solidFill>
                <a:latin typeface="Calibri"/>
              </a:rPr>
              <a:t>Segment-adaptive: for browse-only non-bookers it simply becomes the first-booking (activation) rate.</a:t>
            </a:r>
          </a:p>
          <a:p>
            <a:pPr>
              <a:lnSpc>
                <a:spcPct val="105000"/>
              </a:lnSpc>
              <a:spcBef>
                <a:spcPts val="0"/>
              </a:spcBef>
              <a:spcAft>
                <a:spcPts val="1100"/>
              </a:spcAft>
            </a:pPr>
            <a:r>
              <a:rPr sz="1350" b="1">
                <a:solidFill>
                  <a:srgbClr val="E8743B"/>
                </a:solidFill>
                <a:latin typeface="Calibri"/>
              </a:rPr>
              <a:t>▪  </a:t>
            </a:r>
            <a:r>
              <a:rPr sz="1350" b="0">
                <a:solidFill>
                  <a:srgbClr val="22303F"/>
                </a:solidFill>
                <a:latin typeface="Calibri"/>
              </a:rPr>
              <a:t>Track alongside it: booking frequency, revenue retained, and net revenue after perk cost.</a:t>
            </a:r>
          </a:p>
        </p:txBody>
      </p:sp>
      <p:sp>
        <p:nvSpPr>
          <p:cNvPr id="16" name="TextBox 15"/>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17" name="TextBox 16"/>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sz="900" b="0" i="0" dirty="0">
                <a:solidFill>
                  <a:srgbClr val="8A94A6"/>
                </a:solidFill>
                <a:latin typeface="Calibri"/>
              </a:rPr>
              <a:t>1</a:t>
            </a:r>
            <a:r>
              <a:rPr lang="en-US" sz="900" b="0" i="0" dirty="0">
                <a:solidFill>
                  <a:srgbClr val="8A94A6"/>
                </a:solidFill>
                <a:latin typeface="Calibri"/>
              </a:rPr>
              <a:t>9</a:t>
            </a:r>
            <a:endParaRPr sz="900" b="0" i="0" dirty="0">
              <a:solidFill>
                <a:srgbClr val="8A94A6"/>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NEXT STEP · VALIDATION</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Then: prove each perk causes the lift — and covers its cost</a:t>
            </a:r>
          </a:p>
        </p:txBody>
      </p:sp>
      <p:sp>
        <p:nvSpPr>
          <p:cNvPr id="6" name="TextBox 5"/>
          <p:cNvSpPr txBox="1"/>
          <p:nvPr/>
        </p:nvSpPr>
        <p:spPr>
          <a:xfrm>
            <a:off x="548640" y="1554480"/>
            <a:ext cx="5120640" cy="310896"/>
          </a:xfrm>
          <a:prstGeom prst="rect">
            <a:avLst/>
          </a:prstGeom>
          <a:noFill/>
        </p:spPr>
        <p:txBody>
          <a:bodyPr wrap="square" lIns="45720" tIns="0" rIns="45720" bIns="0" anchor="t">
            <a:spAutoFit/>
          </a:bodyPr>
          <a:lstStyle/>
          <a:p>
            <a:pPr algn="l">
              <a:lnSpc>
                <a:spcPct val="100000"/>
              </a:lnSpc>
              <a:spcBef>
                <a:spcPts val="0"/>
              </a:spcBef>
              <a:spcAft>
                <a:spcPts val="400"/>
              </a:spcAft>
            </a:pPr>
            <a:r>
              <a:rPr sz="1200" b="1" i="0">
                <a:solidFill>
                  <a:srgbClr val="1F3A5F"/>
                </a:solidFill>
                <a:latin typeface="Calibri"/>
              </a:rPr>
              <a:t>HOW WE'D TEST</a:t>
            </a:r>
          </a:p>
        </p:txBody>
      </p:sp>
      <p:sp>
        <p:nvSpPr>
          <p:cNvPr id="7" name="Rectangle 6"/>
          <p:cNvSpPr/>
          <p:nvPr/>
        </p:nvSpPr>
        <p:spPr>
          <a:xfrm>
            <a:off x="548640" y="1874519"/>
            <a:ext cx="502920" cy="41148"/>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011680"/>
            <a:ext cx="5212080" cy="3840480"/>
          </a:xfrm>
          <a:prstGeom prst="rect">
            <a:avLst/>
          </a:prstGeom>
          <a:noFill/>
        </p:spPr>
        <p:txBody>
          <a:bodyPr wrap="square" lIns="45720" tIns="0" rIns="45720">
            <a:spAutoFit/>
          </a:bodyPr>
          <a:lstStyle/>
          <a:p>
            <a:pPr>
              <a:lnSpc>
                <a:spcPct val="105000"/>
              </a:lnSpc>
              <a:spcBef>
                <a:spcPts val="0"/>
              </a:spcBef>
              <a:spcAft>
                <a:spcPts val="1200"/>
              </a:spcAft>
            </a:pPr>
            <a:r>
              <a:rPr sz="1350" b="1">
                <a:solidFill>
                  <a:srgbClr val="E8743B"/>
                </a:solidFill>
                <a:latin typeface="Calibri"/>
              </a:rPr>
              <a:t>▪  </a:t>
            </a:r>
            <a:r>
              <a:rPr sz="1350" b="1">
                <a:solidFill>
                  <a:srgbClr val="22303F"/>
                </a:solidFill>
                <a:latin typeface="Calibri"/>
              </a:rPr>
              <a:t>One experiment per segment (six in all) — the perks pull in opposite directions, so each is tested within its own segment.</a:t>
            </a:r>
          </a:p>
          <a:p>
            <a:pPr>
              <a:lnSpc>
                <a:spcPct val="105000"/>
              </a:lnSpc>
              <a:spcBef>
                <a:spcPts val="0"/>
              </a:spcBef>
              <a:spcAft>
                <a:spcPts val="1200"/>
              </a:spcAft>
            </a:pPr>
            <a:r>
              <a:rPr sz="1350" b="1">
                <a:solidFill>
                  <a:srgbClr val="E8743B"/>
                </a:solidFill>
                <a:latin typeface="Calibri"/>
              </a:rPr>
              <a:t>▪  </a:t>
            </a:r>
            <a:r>
              <a:rPr sz="1350" b="0">
                <a:solidFill>
                  <a:srgbClr val="22303F"/>
                </a:solidFill>
                <a:latin typeface="Calibri"/>
              </a:rPr>
              <a:t>Randomise per user: perk arm vs. a holdout that keeps today's experience.</a:t>
            </a:r>
          </a:p>
          <a:p>
            <a:pPr>
              <a:lnSpc>
                <a:spcPct val="105000"/>
              </a:lnSpc>
              <a:spcBef>
                <a:spcPts val="0"/>
              </a:spcBef>
              <a:spcAft>
                <a:spcPts val="1200"/>
              </a:spcAft>
            </a:pPr>
            <a:r>
              <a:rPr sz="1350" b="1">
                <a:solidFill>
                  <a:srgbClr val="E8743B"/>
                </a:solidFill>
                <a:latin typeface="Calibri"/>
              </a:rPr>
              <a:t>▪  </a:t>
            </a:r>
            <a:r>
              <a:rPr sz="1350" b="0">
                <a:solidFill>
                  <a:srgbClr val="22303F"/>
                </a:solidFill>
                <a:latin typeface="Calibri"/>
              </a:rPr>
              <a:t>Primary endpoint: Repeat-Booking Rate. Guardrails: cancellation rate and net revenue after perk cost.</a:t>
            </a:r>
          </a:p>
          <a:p>
            <a:pPr>
              <a:lnSpc>
                <a:spcPct val="105000"/>
              </a:lnSpc>
              <a:spcBef>
                <a:spcPts val="0"/>
              </a:spcBef>
              <a:spcAft>
                <a:spcPts val="1200"/>
              </a:spcAft>
            </a:pPr>
            <a:r>
              <a:rPr sz="1350" b="1">
                <a:solidFill>
                  <a:srgbClr val="E8743B"/>
                </a:solidFill>
                <a:latin typeface="Calibri"/>
              </a:rPr>
              <a:t>▪  </a:t>
            </a:r>
            <a:r>
              <a:rPr sz="1350" b="0">
                <a:solidFill>
                  <a:srgbClr val="22303F"/>
                </a:solidFill>
                <a:latin typeface="Calibri"/>
              </a:rPr>
              <a:t>Decision rule: ship a perk only if it lifts RBR, covers its cost, and doesn't raise cancellations.</a:t>
            </a:r>
          </a:p>
        </p:txBody>
      </p:sp>
      <p:sp>
        <p:nvSpPr>
          <p:cNvPr id="9" name="Rectangle 8"/>
          <p:cNvSpPr/>
          <p:nvPr/>
        </p:nvSpPr>
        <p:spPr>
          <a:xfrm>
            <a:off x="6126480" y="1463040"/>
            <a:ext cx="5623560" cy="4434840"/>
          </a:xfrm>
          <a:prstGeom prst="rect">
            <a:avLst/>
          </a:prstGeom>
          <a:solidFill>
            <a:srgbClr val="FFFFFF"/>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12280" y="1691640"/>
            <a:ext cx="4251960" cy="53035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1691640"/>
            <a:ext cx="4251960" cy="53035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300" b="1" i="0">
                <a:solidFill>
                  <a:srgbClr val="FFFFFF"/>
                </a:solidFill>
                <a:latin typeface="Calibri"/>
              </a:rPr>
              <a:t>A customer segment</a:t>
            </a:r>
          </a:p>
        </p:txBody>
      </p:sp>
      <p:sp>
        <p:nvSpPr>
          <p:cNvPr id="12" name="TextBox 11"/>
          <p:cNvSpPr txBox="1"/>
          <p:nvPr/>
        </p:nvSpPr>
        <p:spPr>
          <a:xfrm>
            <a:off x="6400800" y="2286000"/>
            <a:ext cx="5074920" cy="274320"/>
          </a:xfrm>
          <a:prstGeom prst="rect">
            <a:avLst/>
          </a:prstGeom>
          <a:noFill/>
        </p:spPr>
        <p:txBody>
          <a:bodyPr wrap="square" lIns="45720" tIns="0" rIns="45720" bIns="0" anchor="t">
            <a:spAutoFit/>
          </a:bodyPr>
          <a:lstStyle/>
          <a:p>
            <a:pPr algn="ctr">
              <a:lnSpc>
                <a:spcPct val="100000"/>
              </a:lnSpc>
              <a:spcBef>
                <a:spcPts val="0"/>
              </a:spcBef>
              <a:spcAft>
                <a:spcPts val="400"/>
              </a:spcAft>
            </a:pPr>
            <a:r>
              <a:rPr sz="1100" b="1" i="0">
                <a:solidFill>
                  <a:srgbClr val="3D6FB4"/>
                </a:solidFill>
                <a:latin typeface="Calibri"/>
              </a:rPr>
              <a:t>▼  </a:t>
            </a:r>
            <a:r>
              <a:rPr sz="1100" b="0" i="1">
                <a:solidFill>
                  <a:srgbClr val="6B7685"/>
                </a:solidFill>
                <a:latin typeface="Calibri"/>
              </a:rPr>
              <a:t>randomise 50 / 50</a:t>
            </a:r>
          </a:p>
        </p:txBody>
      </p:sp>
      <p:sp>
        <p:nvSpPr>
          <p:cNvPr id="13" name="Rectangle 12"/>
          <p:cNvSpPr/>
          <p:nvPr/>
        </p:nvSpPr>
        <p:spPr>
          <a:xfrm>
            <a:off x="6537960" y="2670048"/>
            <a:ext cx="2240280" cy="60350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2670048"/>
            <a:ext cx="2240280" cy="603504"/>
          </a:xfrm>
          <a:prstGeom prst="rect">
            <a:avLst/>
          </a:prstGeom>
          <a:noFill/>
        </p:spPr>
        <p:txBody>
          <a:bodyPr wrap="square" lIns="45720" tIns="0" rIns="45720" bIns="0" anchor="ctr">
            <a:spAutoFit/>
          </a:bodyPr>
          <a:lstStyle/>
          <a:p>
            <a:pPr algn="ctr">
              <a:lnSpc>
                <a:spcPct val="100000"/>
              </a:lnSpc>
              <a:spcBef>
                <a:spcPts val="0"/>
              </a:spcBef>
              <a:spcAft>
                <a:spcPts val="400"/>
              </a:spcAft>
            </a:pPr>
            <a:r>
              <a:rPr sz="1300" b="1" i="0">
                <a:solidFill>
                  <a:srgbClr val="FFFFFF"/>
                </a:solidFill>
                <a:latin typeface="Calibri"/>
              </a:rPr>
              <a:t>Perk arm</a:t>
            </a:r>
          </a:p>
        </p:txBody>
      </p:sp>
      <p:sp>
        <p:nvSpPr>
          <p:cNvPr id="15" name="Rectangle 14"/>
          <p:cNvSpPr/>
          <p:nvPr/>
        </p:nvSpPr>
        <p:spPr>
          <a:xfrm>
            <a:off x="9098280" y="2670048"/>
            <a:ext cx="2240280" cy="603504"/>
          </a:xfrm>
          <a:prstGeom prst="rect">
            <a:avLst/>
          </a:prstGeom>
          <a:solidFill>
            <a:srgbClr val="6B76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98280" y="2670048"/>
            <a:ext cx="2240280" cy="603504"/>
          </a:xfrm>
          <a:prstGeom prst="rect">
            <a:avLst/>
          </a:prstGeom>
          <a:noFill/>
        </p:spPr>
        <p:txBody>
          <a:bodyPr wrap="square" lIns="45720" tIns="0" rIns="45720" bIns="0" anchor="ctr">
            <a:spAutoFit/>
          </a:bodyPr>
          <a:lstStyle/>
          <a:p>
            <a:pPr algn="ctr">
              <a:lnSpc>
                <a:spcPct val="100000"/>
              </a:lnSpc>
              <a:spcBef>
                <a:spcPts val="0"/>
              </a:spcBef>
              <a:spcAft>
                <a:spcPts val="400"/>
              </a:spcAft>
            </a:pPr>
            <a:r>
              <a:rPr sz="1300" b="1" i="0">
                <a:solidFill>
                  <a:srgbClr val="FFFFFF"/>
                </a:solidFill>
                <a:latin typeface="Calibri"/>
              </a:rPr>
              <a:t>Holdout control</a:t>
            </a:r>
          </a:p>
        </p:txBody>
      </p:sp>
      <p:sp>
        <p:nvSpPr>
          <p:cNvPr id="17" name="TextBox 16"/>
          <p:cNvSpPr txBox="1"/>
          <p:nvPr/>
        </p:nvSpPr>
        <p:spPr>
          <a:xfrm>
            <a:off x="6400800" y="3364992"/>
            <a:ext cx="5074920" cy="274320"/>
          </a:xfrm>
          <a:prstGeom prst="rect">
            <a:avLst/>
          </a:prstGeom>
          <a:noFill/>
        </p:spPr>
        <p:txBody>
          <a:bodyPr wrap="square" lIns="45720" tIns="0" rIns="45720" bIns="0" anchor="t">
            <a:spAutoFit/>
          </a:bodyPr>
          <a:lstStyle/>
          <a:p>
            <a:pPr algn="ctr">
              <a:lnSpc>
                <a:spcPct val="100000"/>
              </a:lnSpc>
              <a:spcBef>
                <a:spcPts val="0"/>
              </a:spcBef>
              <a:spcAft>
                <a:spcPts val="400"/>
              </a:spcAft>
            </a:pPr>
            <a:r>
              <a:rPr sz="1100" b="1" i="0">
                <a:solidFill>
                  <a:srgbClr val="3D6FB4"/>
                </a:solidFill>
                <a:latin typeface="Calibri"/>
              </a:rPr>
              <a:t>▼  </a:t>
            </a:r>
            <a:r>
              <a:rPr sz="1100" b="0" i="1">
                <a:solidFill>
                  <a:srgbClr val="6B7685"/>
                </a:solidFill>
                <a:latin typeface="Calibri"/>
              </a:rPr>
              <a:t>after a 90-day window</a:t>
            </a:r>
          </a:p>
        </p:txBody>
      </p:sp>
      <p:sp>
        <p:nvSpPr>
          <p:cNvPr id="18" name="Rectangle 17"/>
          <p:cNvSpPr/>
          <p:nvPr/>
        </p:nvSpPr>
        <p:spPr>
          <a:xfrm>
            <a:off x="6812280" y="3767328"/>
            <a:ext cx="4251960" cy="530352"/>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12280" y="3767328"/>
            <a:ext cx="4251960" cy="53035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300" b="1" i="0">
                <a:solidFill>
                  <a:srgbClr val="FFFFFF"/>
                </a:solidFill>
                <a:latin typeface="Calibri"/>
              </a:rPr>
              <a:t>Compare Repeat-Booking Rate</a:t>
            </a:r>
          </a:p>
        </p:txBody>
      </p:sp>
      <p:sp>
        <p:nvSpPr>
          <p:cNvPr id="20" name="TextBox 19"/>
          <p:cNvSpPr txBox="1"/>
          <p:nvPr/>
        </p:nvSpPr>
        <p:spPr>
          <a:xfrm>
            <a:off x="6400800" y="4370832"/>
            <a:ext cx="5074920" cy="274320"/>
          </a:xfrm>
          <a:prstGeom prst="rect">
            <a:avLst/>
          </a:prstGeom>
          <a:noFill/>
        </p:spPr>
        <p:txBody>
          <a:bodyPr wrap="square" lIns="45720" tIns="0" rIns="45720" bIns="0" anchor="t">
            <a:spAutoFit/>
          </a:bodyPr>
          <a:lstStyle/>
          <a:p>
            <a:pPr algn="ctr">
              <a:lnSpc>
                <a:spcPct val="100000"/>
              </a:lnSpc>
              <a:spcBef>
                <a:spcPts val="0"/>
              </a:spcBef>
              <a:spcAft>
                <a:spcPts val="400"/>
              </a:spcAft>
            </a:pPr>
            <a:r>
              <a:rPr sz="1100" b="1" i="0">
                <a:solidFill>
                  <a:srgbClr val="3D6FB4"/>
                </a:solidFill>
                <a:latin typeface="Calibri"/>
              </a:rPr>
              <a:t>▼  </a:t>
            </a:r>
            <a:r>
              <a:rPr sz="1100" b="0" i="1">
                <a:solidFill>
                  <a:srgbClr val="6B7685"/>
                </a:solidFill>
                <a:latin typeface="Calibri"/>
              </a:rPr>
              <a:t>if lift + covers cost + no cancellation rise</a:t>
            </a:r>
          </a:p>
        </p:txBody>
      </p:sp>
      <p:sp>
        <p:nvSpPr>
          <p:cNvPr id="21" name="Rectangle 20"/>
          <p:cNvSpPr/>
          <p:nvPr/>
        </p:nvSpPr>
        <p:spPr>
          <a:xfrm>
            <a:off x="6812280" y="4736592"/>
            <a:ext cx="4251960" cy="530352"/>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12280" y="4736592"/>
            <a:ext cx="4251960" cy="530352"/>
          </a:xfrm>
          <a:prstGeom prst="rect">
            <a:avLst/>
          </a:prstGeom>
          <a:noFill/>
        </p:spPr>
        <p:txBody>
          <a:bodyPr wrap="square" lIns="45720" tIns="0" rIns="45720" bIns="0" anchor="ctr">
            <a:spAutoFit/>
          </a:bodyPr>
          <a:lstStyle/>
          <a:p>
            <a:pPr algn="ctr">
              <a:lnSpc>
                <a:spcPct val="100000"/>
              </a:lnSpc>
              <a:spcBef>
                <a:spcPts val="0"/>
              </a:spcBef>
              <a:spcAft>
                <a:spcPts val="400"/>
              </a:spcAft>
            </a:pPr>
            <a:r>
              <a:rPr sz="1300" b="1" i="0">
                <a:solidFill>
                  <a:srgbClr val="FFFFFF"/>
                </a:solidFill>
                <a:latin typeface="Calibri"/>
              </a:rPr>
              <a:t>Ship  ·  iterate  ·  drop</a:t>
            </a:r>
          </a:p>
        </p:txBody>
      </p:sp>
      <p:sp>
        <p:nvSpPr>
          <p:cNvPr id="23" name="TextBox 22"/>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24" name="TextBox 23"/>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20</a:t>
            </a:r>
            <a:endParaRPr sz="900" b="0" i="0" dirty="0">
              <a:solidFill>
                <a:srgbClr val="8A94A6"/>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0700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207008"/>
            <a:ext cx="12191695" cy="54864"/>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46304"/>
            <a:ext cx="11155680" cy="292608"/>
          </a:xfrm>
          <a:prstGeom prst="rect">
            <a:avLst/>
          </a:prstGeom>
          <a:noFill/>
        </p:spPr>
        <p:txBody>
          <a:bodyPr wrap="square" lIns="45720" tIns="0" rIns="45720" bIns="0" anchor="t">
            <a:spAutoFit/>
          </a:bodyPr>
          <a:lstStyle/>
          <a:p>
            <a:pPr algn="l">
              <a:lnSpc>
                <a:spcPct val="100000"/>
              </a:lnSpc>
              <a:spcBef>
                <a:spcPts val="0"/>
              </a:spcBef>
              <a:spcAft>
                <a:spcPts val="400"/>
              </a:spcAft>
            </a:pPr>
            <a:r>
              <a:rPr sz="1250" b="1" i="0">
                <a:solidFill>
                  <a:srgbClr val="E9B949"/>
                </a:solidFill>
                <a:latin typeface="Calibri"/>
              </a:rPr>
              <a:t>RECOMMENDATIONS</a:t>
            </a:r>
          </a:p>
        </p:txBody>
      </p:sp>
      <p:sp>
        <p:nvSpPr>
          <p:cNvPr id="5" name="TextBox 4"/>
          <p:cNvSpPr txBox="1"/>
          <p:nvPr/>
        </p:nvSpPr>
        <p:spPr>
          <a:xfrm>
            <a:off x="502920" y="420624"/>
            <a:ext cx="11155680" cy="731520"/>
          </a:xfrm>
          <a:prstGeom prst="rect">
            <a:avLst/>
          </a:prstGeom>
          <a:noFill/>
        </p:spPr>
        <p:txBody>
          <a:bodyPr wrap="square" lIns="45720" tIns="0" rIns="45720" bIns="0" anchor="ctr">
            <a:spAutoFit/>
          </a:bodyPr>
          <a:lstStyle/>
          <a:p>
            <a:pPr algn="l">
              <a:lnSpc>
                <a:spcPct val="100000"/>
              </a:lnSpc>
              <a:spcBef>
                <a:spcPts val="0"/>
              </a:spcBef>
              <a:spcAft>
                <a:spcPts val="400"/>
              </a:spcAft>
            </a:pPr>
            <a:r>
              <a:rPr sz="2300" b="1" i="0">
                <a:solidFill>
                  <a:srgbClr val="FFFFFF"/>
                </a:solidFill>
                <a:latin typeface="Calibri"/>
              </a:rPr>
              <a:t>Protect the core, activate the edges, prove every perk</a:t>
            </a:r>
          </a:p>
        </p:txBody>
      </p:sp>
      <p:sp>
        <p:nvSpPr>
          <p:cNvPr id="6" name="Rectangle 5"/>
          <p:cNvSpPr/>
          <p:nvPr/>
        </p:nvSpPr>
        <p:spPr>
          <a:xfrm>
            <a:off x="640080" y="1600200"/>
            <a:ext cx="10881360" cy="107899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00200"/>
            <a:ext cx="128016" cy="1078992"/>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719072"/>
            <a:ext cx="10332720" cy="868680"/>
          </a:xfrm>
          <a:prstGeom prst="rect">
            <a:avLst/>
          </a:prstGeom>
          <a:noFill/>
        </p:spPr>
        <p:txBody>
          <a:bodyPr wrap="square" lIns="45720" tIns="0" rIns="45720" bIns="0" anchor="t">
            <a:spAutoFit/>
          </a:bodyPr>
          <a:lstStyle/>
          <a:p>
            <a:pPr algn="l">
              <a:lnSpc>
                <a:spcPct val="100000"/>
              </a:lnSpc>
              <a:spcBef>
                <a:spcPts val="0"/>
              </a:spcBef>
              <a:spcAft>
                <a:spcPts val="300"/>
              </a:spcAft>
            </a:pPr>
            <a:r>
              <a:rPr sz="1600" b="1" i="0">
                <a:solidFill>
                  <a:srgbClr val="1F3A5F"/>
                </a:solidFill>
                <a:latin typeface="Calibri"/>
              </a:rPr>
              <a:t>Protect the engaged mainstream first</a:t>
            </a:r>
          </a:p>
          <a:p>
            <a:pPr algn="l">
              <a:lnSpc>
                <a:spcPct val="100000"/>
              </a:lnSpc>
              <a:spcBef>
                <a:spcPts val="0"/>
              </a:spcBef>
              <a:spcAft>
                <a:spcPts val="300"/>
              </a:spcAft>
            </a:pPr>
            <a:r>
              <a:rPr sz="1250" b="0" i="0">
                <a:solidFill>
                  <a:srgbClr val="22303F"/>
                </a:solidFill>
                <a:latin typeface="Calibri"/>
              </a:rPr>
              <a:t>Largest segment, $4.8k spend, 75% repeat rate — small churn here is the most expensive churn. Lead with loyalty lock-in.</a:t>
            </a:r>
          </a:p>
        </p:txBody>
      </p:sp>
      <p:sp>
        <p:nvSpPr>
          <p:cNvPr id="9" name="Rectangle 8"/>
          <p:cNvSpPr/>
          <p:nvPr/>
        </p:nvSpPr>
        <p:spPr>
          <a:xfrm>
            <a:off x="640080" y="2770632"/>
            <a:ext cx="10881360" cy="107899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770632"/>
            <a:ext cx="128016" cy="107899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889504"/>
            <a:ext cx="10332720" cy="868680"/>
          </a:xfrm>
          <a:prstGeom prst="rect">
            <a:avLst/>
          </a:prstGeom>
          <a:noFill/>
        </p:spPr>
        <p:txBody>
          <a:bodyPr wrap="square" lIns="45720" tIns="0" rIns="45720" bIns="0" anchor="t">
            <a:spAutoFit/>
          </a:bodyPr>
          <a:lstStyle/>
          <a:p>
            <a:pPr algn="l">
              <a:lnSpc>
                <a:spcPct val="100000"/>
              </a:lnSpc>
              <a:spcBef>
                <a:spcPts val="0"/>
              </a:spcBef>
              <a:spcAft>
                <a:spcPts val="300"/>
              </a:spcAft>
            </a:pPr>
            <a:r>
              <a:rPr sz="1600" b="1" i="0">
                <a:solidFill>
                  <a:srgbClr val="1F3A5F"/>
                </a:solidFill>
                <a:latin typeface="Calibri"/>
              </a:rPr>
              <a:t>Make bundling the company-wide lever</a:t>
            </a:r>
          </a:p>
          <a:p>
            <a:pPr algn="l">
              <a:lnSpc>
                <a:spcPct val="100000"/>
              </a:lnSpc>
              <a:spcBef>
                <a:spcPts val="0"/>
              </a:spcBef>
              <a:spcAft>
                <a:spcPts val="300"/>
              </a:spcAft>
            </a:pPr>
            <a:r>
              <a:rPr sz="1250" b="0" i="0">
                <a:solidFill>
                  <a:srgbClr val="22303F"/>
                </a:solidFill>
                <a:latin typeface="Calibri"/>
              </a:rPr>
              <a:t>Bundlers spend 2.2× more; three segments' perks route through 'book flight + hotel with us.'</a:t>
            </a:r>
          </a:p>
        </p:txBody>
      </p:sp>
      <p:sp>
        <p:nvSpPr>
          <p:cNvPr id="12" name="Rectangle 11"/>
          <p:cNvSpPr/>
          <p:nvPr/>
        </p:nvSpPr>
        <p:spPr>
          <a:xfrm>
            <a:off x="640080" y="3941064"/>
            <a:ext cx="10881360" cy="107899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3941064"/>
            <a:ext cx="128016" cy="1078992"/>
          </a:xfrm>
          <a:prstGeom prst="rect">
            <a:avLst/>
          </a:prstGeom>
          <a:solidFill>
            <a:srgbClr val="3D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059936"/>
            <a:ext cx="10332720" cy="868680"/>
          </a:xfrm>
          <a:prstGeom prst="rect">
            <a:avLst/>
          </a:prstGeom>
          <a:noFill/>
        </p:spPr>
        <p:txBody>
          <a:bodyPr wrap="square" lIns="45720" tIns="0" rIns="45720" bIns="0" anchor="t">
            <a:spAutoFit/>
          </a:bodyPr>
          <a:lstStyle/>
          <a:p>
            <a:pPr algn="l">
              <a:lnSpc>
                <a:spcPct val="100000"/>
              </a:lnSpc>
              <a:spcBef>
                <a:spcPts val="0"/>
              </a:spcBef>
              <a:spcAft>
                <a:spcPts val="300"/>
              </a:spcAft>
            </a:pPr>
            <a:r>
              <a:rPr sz="1600" b="1" i="0">
                <a:solidFill>
                  <a:srgbClr val="1F3A5F"/>
                </a:solidFill>
                <a:latin typeface="Calibri"/>
              </a:rPr>
              <a:t>Treat niches as targeted bets</a:t>
            </a:r>
          </a:p>
          <a:p>
            <a:pPr algn="l">
              <a:lnSpc>
                <a:spcPct val="100000"/>
              </a:lnSpc>
              <a:spcBef>
                <a:spcPts val="0"/>
              </a:spcBef>
              <a:spcAft>
                <a:spcPts val="300"/>
              </a:spcAft>
            </a:pPr>
            <a:r>
              <a:rPr sz="1250" b="0" i="0">
                <a:solidFill>
                  <a:srgbClr val="22303F"/>
                </a:solidFill>
                <a:latin typeface="Calibri"/>
              </a:rPr>
              <a:t>Flexibility for premium planners, activation for browse-only, share-of-wallet for hotel-only, price-credibility for deal-hunters.</a:t>
            </a:r>
          </a:p>
        </p:txBody>
      </p:sp>
      <p:sp>
        <p:nvSpPr>
          <p:cNvPr id="15" name="Rectangle 14"/>
          <p:cNvSpPr/>
          <p:nvPr/>
        </p:nvSpPr>
        <p:spPr>
          <a:xfrm>
            <a:off x="640080" y="5111496"/>
            <a:ext cx="10881360" cy="1078992"/>
          </a:xfrm>
          <a:prstGeom prst="rect">
            <a:avLst/>
          </a:prstGeom>
          <a:solidFill>
            <a:srgbClr val="F4F7FA"/>
          </a:solidFill>
          <a:ln w="9525">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5111496"/>
            <a:ext cx="128016" cy="1078992"/>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5230368"/>
            <a:ext cx="10332720" cy="868680"/>
          </a:xfrm>
          <a:prstGeom prst="rect">
            <a:avLst/>
          </a:prstGeom>
          <a:noFill/>
        </p:spPr>
        <p:txBody>
          <a:bodyPr wrap="square" lIns="45720" tIns="0" rIns="45720" bIns="0" anchor="t">
            <a:spAutoFit/>
          </a:bodyPr>
          <a:lstStyle/>
          <a:p>
            <a:pPr algn="l">
              <a:lnSpc>
                <a:spcPct val="100000"/>
              </a:lnSpc>
              <a:spcBef>
                <a:spcPts val="0"/>
              </a:spcBef>
              <a:spcAft>
                <a:spcPts val="300"/>
              </a:spcAft>
            </a:pPr>
            <a:r>
              <a:rPr sz="1600" b="1" i="0">
                <a:solidFill>
                  <a:srgbClr val="1F3A5F"/>
                </a:solidFill>
                <a:latin typeface="Calibri"/>
              </a:rPr>
              <a:t>Ship only what the test proves</a:t>
            </a:r>
          </a:p>
          <a:p>
            <a:pPr algn="l">
              <a:lnSpc>
                <a:spcPct val="100000"/>
              </a:lnSpc>
              <a:spcBef>
                <a:spcPts val="0"/>
              </a:spcBef>
              <a:spcAft>
                <a:spcPts val="300"/>
              </a:spcAft>
            </a:pPr>
            <a:r>
              <a:rPr sz="1250" b="0" i="0">
                <a:solidFill>
                  <a:srgbClr val="22303F"/>
                </a:solidFill>
                <a:latin typeface="Calibri"/>
              </a:rPr>
              <a:t>Significant RBR-90 lift AND positive net revenue AND no cancellation regression — otherwise iterate or drop.</a:t>
            </a:r>
          </a:p>
        </p:txBody>
      </p:sp>
      <p:sp>
        <p:nvSpPr>
          <p:cNvPr id="18" name="TextBox 17"/>
          <p:cNvSpPr txBox="1"/>
          <p:nvPr/>
        </p:nvSpPr>
        <p:spPr>
          <a:xfrm>
            <a:off x="502920" y="6473952"/>
            <a:ext cx="8229600" cy="274320"/>
          </a:xfrm>
          <a:prstGeom prst="rect">
            <a:avLst/>
          </a:prstGeom>
          <a:noFill/>
        </p:spPr>
        <p:txBody>
          <a:bodyPr wrap="square" lIns="45720" tIns="0" rIns="45720" bIns="0" anchor="t">
            <a:spAutoFit/>
          </a:bodyPr>
          <a:lstStyle/>
          <a:p>
            <a:pPr algn="l">
              <a:lnSpc>
                <a:spcPct val="100000"/>
              </a:lnSpc>
              <a:spcBef>
                <a:spcPts val="0"/>
              </a:spcBef>
              <a:spcAft>
                <a:spcPts val="400"/>
              </a:spcAft>
            </a:pPr>
            <a:r>
              <a:rPr sz="900" b="0" i="0">
                <a:solidFill>
                  <a:srgbClr val="8A94A6"/>
                </a:solidFill>
                <a:latin typeface="Calibri"/>
              </a:rPr>
              <a:t>TravelTide  ·  Customer Segmentation for Retention</a:t>
            </a:r>
          </a:p>
        </p:txBody>
      </p:sp>
      <p:sp>
        <p:nvSpPr>
          <p:cNvPr id="19" name="TextBox 18"/>
          <p:cNvSpPr txBox="1"/>
          <p:nvPr/>
        </p:nvSpPr>
        <p:spPr>
          <a:xfrm>
            <a:off x="11155680" y="6473952"/>
            <a:ext cx="822960" cy="138499"/>
          </a:xfrm>
          <a:prstGeom prst="rect">
            <a:avLst/>
          </a:prstGeom>
          <a:noFill/>
        </p:spPr>
        <p:txBody>
          <a:bodyPr wrap="square" lIns="45720" tIns="0" rIns="45720" bIns="0" anchor="t">
            <a:spAutoFit/>
          </a:bodyPr>
          <a:lstStyle/>
          <a:p>
            <a:pPr algn="r">
              <a:lnSpc>
                <a:spcPct val="100000"/>
              </a:lnSpc>
              <a:spcBef>
                <a:spcPts val="0"/>
              </a:spcBef>
              <a:spcAft>
                <a:spcPts val="400"/>
              </a:spcAft>
            </a:pPr>
            <a:r>
              <a:rPr lang="en-US" sz="900" dirty="0">
                <a:solidFill>
                  <a:srgbClr val="8A94A6"/>
                </a:solidFill>
                <a:latin typeface="Calibri"/>
              </a:rPr>
              <a:t>21</a:t>
            </a:r>
            <a:endParaRPr sz="900" b="0" i="0" dirty="0">
              <a:solidFill>
                <a:srgbClr val="8A94A6"/>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286000"/>
            <a:ext cx="12191695" cy="64008"/>
          </a:xfrm>
          <a:prstGeom prst="rect">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914400"/>
            <a:ext cx="10515600"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500" b="1" i="0">
                <a:solidFill>
                  <a:srgbClr val="E9B949"/>
                </a:solidFill>
                <a:latin typeface="Calibri"/>
              </a:rPr>
              <a:t>IN SUMMARY</a:t>
            </a:r>
          </a:p>
        </p:txBody>
      </p:sp>
      <p:sp>
        <p:nvSpPr>
          <p:cNvPr id="5" name="TextBox 4"/>
          <p:cNvSpPr txBox="1"/>
          <p:nvPr/>
        </p:nvSpPr>
        <p:spPr>
          <a:xfrm>
            <a:off x="822960" y="1371600"/>
            <a:ext cx="10515600" cy="914400"/>
          </a:xfrm>
          <a:prstGeom prst="rect">
            <a:avLst/>
          </a:prstGeom>
          <a:noFill/>
        </p:spPr>
        <p:txBody>
          <a:bodyPr wrap="square" lIns="45720" tIns="0" rIns="45720" bIns="0" anchor="t">
            <a:spAutoFit/>
          </a:bodyPr>
          <a:lstStyle/>
          <a:p>
            <a:pPr algn="l">
              <a:lnSpc>
                <a:spcPct val="100000"/>
              </a:lnSpc>
              <a:spcBef>
                <a:spcPts val="0"/>
              </a:spcBef>
              <a:spcAft>
                <a:spcPts val="400"/>
              </a:spcAft>
            </a:pPr>
            <a:r>
              <a:rPr sz="3000" b="1" i="0">
                <a:solidFill>
                  <a:srgbClr val="FFFFFF"/>
                </a:solidFill>
                <a:latin typeface="Calibri"/>
              </a:rPr>
              <a:t>Six segments. Six perks. One way to prove it.</a:t>
            </a:r>
          </a:p>
        </p:txBody>
      </p:sp>
      <p:sp>
        <p:nvSpPr>
          <p:cNvPr id="6" name="TextBox 5"/>
          <p:cNvSpPr txBox="1"/>
          <p:nvPr/>
        </p:nvSpPr>
        <p:spPr>
          <a:xfrm>
            <a:off x="1051560" y="2697480"/>
            <a:ext cx="457200"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600" b="1" i="0">
                <a:solidFill>
                  <a:srgbClr val="E8743B"/>
                </a:solidFill>
                <a:latin typeface="Calibri"/>
              </a:rPr>
              <a:t>▪</a:t>
            </a:r>
          </a:p>
        </p:txBody>
      </p:sp>
      <p:sp>
        <p:nvSpPr>
          <p:cNvPr id="7" name="TextBox 6"/>
          <p:cNvSpPr txBox="1"/>
          <p:nvPr/>
        </p:nvSpPr>
        <p:spPr>
          <a:xfrm>
            <a:off x="1417320" y="2697480"/>
            <a:ext cx="9875520" cy="548640"/>
          </a:xfrm>
          <a:prstGeom prst="rect">
            <a:avLst/>
          </a:prstGeom>
          <a:noFill/>
        </p:spPr>
        <p:txBody>
          <a:bodyPr wrap="square" lIns="45720" tIns="0" rIns="45720" bIns="0" anchor="t">
            <a:spAutoFit/>
          </a:bodyPr>
          <a:lstStyle/>
          <a:p>
            <a:pPr algn="l">
              <a:lnSpc>
                <a:spcPct val="100000"/>
              </a:lnSpc>
              <a:spcBef>
                <a:spcPts val="0"/>
              </a:spcBef>
              <a:spcAft>
                <a:spcPts val="400"/>
              </a:spcAft>
            </a:pPr>
            <a:r>
              <a:rPr sz="1550" b="0" i="0">
                <a:solidFill>
                  <a:srgbClr val="DCE6F0"/>
                </a:solidFill>
                <a:latin typeface="Calibri"/>
              </a:rPr>
              <a:t>65.5% of sessions never convert — retention and activation are the opportunity.</a:t>
            </a:r>
          </a:p>
        </p:txBody>
      </p:sp>
      <p:sp>
        <p:nvSpPr>
          <p:cNvPr id="8" name="TextBox 7"/>
          <p:cNvSpPr txBox="1"/>
          <p:nvPr/>
        </p:nvSpPr>
        <p:spPr>
          <a:xfrm>
            <a:off x="1051560" y="3355848"/>
            <a:ext cx="457200"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600" b="1" i="0">
                <a:solidFill>
                  <a:srgbClr val="E8743B"/>
                </a:solidFill>
                <a:latin typeface="Calibri"/>
              </a:rPr>
              <a:t>▪</a:t>
            </a:r>
          </a:p>
        </p:txBody>
      </p:sp>
      <p:sp>
        <p:nvSpPr>
          <p:cNvPr id="9" name="TextBox 8"/>
          <p:cNvSpPr txBox="1"/>
          <p:nvPr/>
        </p:nvSpPr>
        <p:spPr>
          <a:xfrm>
            <a:off x="1417320" y="3355848"/>
            <a:ext cx="9875520" cy="548640"/>
          </a:xfrm>
          <a:prstGeom prst="rect">
            <a:avLst/>
          </a:prstGeom>
          <a:noFill/>
        </p:spPr>
        <p:txBody>
          <a:bodyPr wrap="square" lIns="45720" tIns="0" rIns="45720" bIns="0" anchor="t">
            <a:spAutoFit/>
          </a:bodyPr>
          <a:lstStyle/>
          <a:p>
            <a:pPr algn="l">
              <a:lnSpc>
                <a:spcPct val="100000"/>
              </a:lnSpc>
              <a:spcBef>
                <a:spcPts val="0"/>
              </a:spcBef>
              <a:spcAft>
                <a:spcPts val="400"/>
              </a:spcAft>
            </a:pPr>
            <a:r>
              <a:rPr sz="1550" b="0" i="0">
                <a:solidFill>
                  <a:srgbClr val="DCE6F0"/>
                </a:solidFill>
                <a:latin typeface="Calibri"/>
              </a:rPr>
              <a:t>Two-stage clustering → 6 actionable segments, validated where the data is sharp.</a:t>
            </a:r>
          </a:p>
        </p:txBody>
      </p:sp>
      <p:sp>
        <p:nvSpPr>
          <p:cNvPr id="10" name="TextBox 9"/>
          <p:cNvSpPr txBox="1"/>
          <p:nvPr/>
        </p:nvSpPr>
        <p:spPr>
          <a:xfrm>
            <a:off x="1051560" y="4014215"/>
            <a:ext cx="457200"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600" b="1" i="0">
                <a:solidFill>
                  <a:srgbClr val="E8743B"/>
                </a:solidFill>
                <a:latin typeface="Calibri"/>
              </a:rPr>
              <a:t>▪</a:t>
            </a:r>
          </a:p>
        </p:txBody>
      </p:sp>
      <p:sp>
        <p:nvSpPr>
          <p:cNvPr id="11" name="TextBox 10"/>
          <p:cNvSpPr txBox="1"/>
          <p:nvPr/>
        </p:nvSpPr>
        <p:spPr>
          <a:xfrm>
            <a:off x="1417320" y="4014215"/>
            <a:ext cx="9875520" cy="548640"/>
          </a:xfrm>
          <a:prstGeom prst="rect">
            <a:avLst/>
          </a:prstGeom>
          <a:noFill/>
        </p:spPr>
        <p:txBody>
          <a:bodyPr wrap="square" lIns="45720" tIns="0" rIns="45720" bIns="0" anchor="t">
            <a:spAutoFit/>
          </a:bodyPr>
          <a:lstStyle/>
          <a:p>
            <a:pPr algn="l">
              <a:lnSpc>
                <a:spcPct val="100000"/>
              </a:lnSpc>
              <a:spcBef>
                <a:spcPts val="0"/>
              </a:spcBef>
              <a:spcAft>
                <a:spcPts val="400"/>
              </a:spcAft>
            </a:pPr>
            <a:r>
              <a:rPr sz="1550" b="0" i="0">
                <a:solidFill>
                  <a:srgbClr val="DCE6F0"/>
                </a:solidFill>
                <a:latin typeface="Calibri"/>
              </a:rPr>
              <a:t>Each segment gets a perk matched to its behaviour and its specific churn risk.</a:t>
            </a:r>
          </a:p>
        </p:txBody>
      </p:sp>
      <p:sp>
        <p:nvSpPr>
          <p:cNvPr id="12" name="TextBox 11"/>
          <p:cNvSpPr txBox="1"/>
          <p:nvPr/>
        </p:nvSpPr>
        <p:spPr>
          <a:xfrm>
            <a:off x="1051560" y="4672583"/>
            <a:ext cx="457200" cy="457200"/>
          </a:xfrm>
          <a:prstGeom prst="rect">
            <a:avLst/>
          </a:prstGeom>
          <a:noFill/>
        </p:spPr>
        <p:txBody>
          <a:bodyPr wrap="square" lIns="45720" tIns="0" rIns="45720" bIns="0" anchor="t">
            <a:spAutoFit/>
          </a:bodyPr>
          <a:lstStyle/>
          <a:p>
            <a:pPr algn="l">
              <a:lnSpc>
                <a:spcPct val="100000"/>
              </a:lnSpc>
              <a:spcBef>
                <a:spcPts val="0"/>
              </a:spcBef>
              <a:spcAft>
                <a:spcPts val="400"/>
              </a:spcAft>
            </a:pPr>
            <a:r>
              <a:rPr sz="1600" b="1" i="0">
                <a:solidFill>
                  <a:srgbClr val="E8743B"/>
                </a:solidFill>
                <a:latin typeface="Calibri"/>
              </a:rPr>
              <a:t>▪</a:t>
            </a:r>
          </a:p>
        </p:txBody>
      </p:sp>
      <p:sp>
        <p:nvSpPr>
          <p:cNvPr id="13" name="TextBox 12"/>
          <p:cNvSpPr txBox="1"/>
          <p:nvPr/>
        </p:nvSpPr>
        <p:spPr>
          <a:xfrm>
            <a:off x="1417320" y="4672583"/>
            <a:ext cx="9875520" cy="548640"/>
          </a:xfrm>
          <a:prstGeom prst="rect">
            <a:avLst/>
          </a:prstGeom>
          <a:noFill/>
        </p:spPr>
        <p:txBody>
          <a:bodyPr wrap="square" lIns="45720" tIns="0" rIns="45720" bIns="0" anchor="t">
            <a:spAutoFit/>
          </a:bodyPr>
          <a:lstStyle/>
          <a:p>
            <a:pPr algn="l">
              <a:lnSpc>
                <a:spcPct val="100000"/>
              </a:lnSpc>
              <a:spcBef>
                <a:spcPts val="0"/>
              </a:spcBef>
              <a:spcAft>
                <a:spcPts val="400"/>
              </a:spcAft>
            </a:pPr>
            <a:r>
              <a:rPr sz="1550" b="0" i="0">
                <a:solidFill>
                  <a:srgbClr val="DCE6F0"/>
                </a:solidFill>
                <a:latin typeface="Calibri"/>
              </a:rPr>
              <a:t>RBR-90 KPI + a six-arm A/B test turn 'should work' into 'did work, net of cost.'</a:t>
            </a:r>
          </a:p>
        </p:txBody>
      </p:sp>
      <p:sp>
        <p:nvSpPr>
          <p:cNvPr id="14" name="TextBox 13"/>
          <p:cNvSpPr txBox="1"/>
          <p:nvPr/>
        </p:nvSpPr>
        <p:spPr>
          <a:xfrm>
            <a:off x="822960" y="5943600"/>
            <a:ext cx="10515600" cy="548640"/>
          </a:xfrm>
          <a:prstGeom prst="rect">
            <a:avLst/>
          </a:prstGeom>
          <a:noFill/>
        </p:spPr>
        <p:txBody>
          <a:bodyPr wrap="square" lIns="45720" tIns="0" rIns="45720" bIns="0" anchor="t">
            <a:spAutoFit/>
          </a:bodyPr>
          <a:lstStyle/>
          <a:p>
            <a:pPr algn="l">
              <a:lnSpc>
                <a:spcPct val="100000"/>
              </a:lnSpc>
              <a:spcBef>
                <a:spcPts val="0"/>
              </a:spcBef>
              <a:spcAft>
                <a:spcPts val="400"/>
              </a:spcAft>
            </a:pPr>
            <a:r>
              <a:rPr sz="1600" b="1" i="0">
                <a:solidFill>
                  <a:srgbClr val="E9B949"/>
                </a:solidFill>
                <a:latin typeface="Calibri"/>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TotalTime>
  <Words>4854</Words>
  <Application>Microsoft Macintosh PowerPoint</Application>
  <PresentationFormat>Widescreen</PresentationFormat>
  <Paragraphs>415</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My Teams</cp:lastModifiedBy>
  <cp:revision>12</cp:revision>
  <dcterms:created xsi:type="dcterms:W3CDTF">2013-01-27T09:14:16Z</dcterms:created>
  <dcterms:modified xsi:type="dcterms:W3CDTF">2026-06-05T09:44:49Z</dcterms:modified>
  <cp:category/>
</cp:coreProperties>
</file>